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3" r:id="rId3"/>
    <p:sldId id="274" r:id="rId4"/>
    <p:sldId id="275" r:id="rId5"/>
    <p:sldId id="279" r:id="rId6"/>
    <p:sldId id="277" r:id="rId7"/>
    <p:sldId id="280" r:id="rId8"/>
    <p:sldId id="276" r:id="rId9"/>
    <p:sldId id="281" r:id="rId10"/>
    <p:sldId id="266" r:id="rId11"/>
    <p:sldId id="265" r:id="rId12"/>
    <p:sldId id="259" r:id="rId13"/>
    <p:sldId id="267" r:id="rId14"/>
    <p:sldId id="270" r:id="rId15"/>
    <p:sldId id="260" r:id="rId16"/>
    <p:sldId id="261" r:id="rId17"/>
    <p:sldId id="263" r:id="rId18"/>
    <p:sldId id="264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addSld modSld">
      <pc:chgData name="Toby Donaldson" userId="2e6e5431-bb17-4c41-9985-d39c50d83c73" providerId="ADAL" clId="{F31BC264-820E-54C4-A6D1-F92AF9CC222E}" dt="2026-05-28T23:31:33.651" v="141" actId="14100"/>
      <pc:docMkLst>
        <pc:docMk/>
      </pc:docMkLst>
      <pc:sldChg chg="delSp modSp mod">
        <pc:chgData name="Toby Donaldson" userId="2e6e5431-bb17-4c41-9985-d39c50d83c73" providerId="ADAL" clId="{F31BC264-820E-54C4-A6D1-F92AF9CC222E}" dt="2026-05-25T00:56:40.916" v="93" actId="27636"/>
        <pc:sldMkLst>
          <pc:docMk/>
          <pc:sldMk cId="247949623" sldId="261"/>
        </pc:sldMkLst>
        <pc:spChg chg="mod">
          <ac:chgData name="Toby Donaldson" userId="2e6e5431-bb17-4c41-9985-d39c50d83c73" providerId="ADAL" clId="{F31BC264-820E-54C4-A6D1-F92AF9CC222E}" dt="2026-05-25T00:56:40.916" v="93" actId="27636"/>
          <ac:spMkLst>
            <pc:docMk/>
            <pc:sldMk cId="247949623" sldId="261"/>
            <ac:spMk id="3" creationId="{E45AFAE3-7D9D-4DB0-A01B-CD046F1E7D5F}"/>
          </ac:spMkLst>
        </pc:spChg>
      </pc:sldChg>
      <pc:sldChg chg="modSp mod">
        <pc:chgData name="Toby Donaldson" userId="2e6e5431-bb17-4c41-9985-d39c50d83c73" providerId="ADAL" clId="{F31BC264-820E-54C4-A6D1-F92AF9CC222E}" dt="2026-05-25T00:57:03.452" v="94" actId="20577"/>
        <pc:sldMkLst>
          <pc:docMk/>
          <pc:sldMk cId="3774670057" sldId="263"/>
        </pc:sldMkLst>
        <pc:spChg chg="mod">
          <ac:chgData name="Toby Donaldson" userId="2e6e5431-bb17-4c41-9985-d39c50d83c73" providerId="ADAL" clId="{F31BC264-820E-54C4-A6D1-F92AF9CC222E}" dt="2026-05-25T00:57:03.452" v="94" actId="20577"/>
          <ac:spMkLst>
            <pc:docMk/>
            <pc:sldMk cId="3774670057" sldId="263"/>
            <ac:spMk id="3" creationId="{E45AFAE3-7D9D-4DB0-A01B-CD046F1E7D5F}"/>
          </ac:spMkLst>
        </pc:spChg>
      </pc:sldChg>
      <pc:sldChg chg="modSp mod">
        <pc:chgData name="Toby Donaldson" userId="2e6e5431-bb17-4c41-9985-d39c50d83c73" providerId="ADAL" clId="{F31BC264-820E-54C4-A6D1-F92AF9CC222E}" dt="2026-05-25T00:54:35.161" v="16" actId="14100"/>
        <pc:sldMkLst>
          <pc:docMk/>
          <pc:sldMk cId="2446324911" sldId="265"/>
        </pc:sldMkLst>
        <pc:spChg chg="mod">
          <ac:chgData name="Toby Donaldson" userId="2e6e5431-bb17-4c41-9985-d39c50d83c73" providerId="ADAL" clId="{F31BC264-820E-54C4-A6D1-F92AF9CC222E}" dt="2026-05-25T00:54:28.849" v="14" actId="1076"/>
          <ac:spMkLst>
            <pc:docMk/>
            <pc:sldMk cId="2446324911" sldId="265"/>
            <ac:spMk id="4" creationId="{D4B41A5D-265E-4D39-9E76-1F47F32C6264}"/>
          </ac:spMkLst>
        </pc:spChg>
        <pc:spChg chg="mod">
          <ac:chgData name="Toby Donaldson" userId="2e6e5431-bb17-4c41-9985-d39c50d83c73" providerId="ADAL" clId="{F31BC264-820E-54C4-A6D1-F92AF9CC222E}" dt="2026-05-25T00:54:35.161" v="16" actId="14100"/>
          <ac:spMkLst>
            <pc:docMk/>
            <pc:sldMk cId="2446324911" sldId="265"/>
            <ac:spMk id="5" creationId="{44B869E9-FA8B-4FD1-AAE5-D14329C27947}"/>
          </ac:spMkLst>
        </pc:spChg>
      </pc:sldChg>
      <pc:sldChg chg="modSp mod">
        <pc:chgData name="Toby Donaldson" userId="2e6e5431-bb17-4c41-9985-d39c50d83c73" providerId="ADAL" clId="{F31BC264-820E-54C4-A6D1-F92AF9CC222E}" dt="2026-05-25T00:55:39.654" v="79" actId="20577"/>
        <pc:sldMkLst>
          <pc:docMk/>
          <pc:sldMk cId="2072605454" sldId="270"/>
        </pc:sldMkLst>
        <pc:spChg chg="mod">
          <ac:chgData name="Toby Donaldson" userId="2e6e5431-bb17-4c41-9985-d39c50d83c73" providerId="ADAL" clId="{F31BC264-820E-54C4-A6D1-F92AF9CC222E}" dt="2026-05-25T00:55:39.654" v="79" actId="20577"/>
          <ac:spMkLst>
            <pc:docMk/>
            <pc:sldMk cId="2072605454" sldId="270"/>
            <ac:spMk id="3" creationId="{9D85EADE-0C03-49DA-BB59-0942833F47FA}"/>
          </ac:spMkLst>
        </pc:spChg>
      </pc:sldChg>
      <pc:sldChg chg="modSp mod">
        <pc:chgData name="Toby Donaldson" userId="2e6e5431-bb17-4c41-9985-d39c50d83c73" providerId="ADAL" clId="{F31BC264-820E-54C4-A6D1-F92AF9CC222E}" dt="2026-05-28T23:31:33.651" v="141" actId="14100"/>
        <pc:sldMkLst>
          <pc:docMk/>
          <pc:sldMk cId="230914827" sldId="271"/>
        </pc:sldMkLst>
        <pc:spChg chg="mod">
          <ac:chgData name="Toby Donaldson" userId="2e6e5431-bb17-4c41-9985-d39c50d83c73" providerId="ADAL" clId="{F31BC264-820E-54C4-A6D1-F92AF9CC222E}" dt="2026-05-28T23:31:07.754" v="109" actId="20577"/>
          <ac:spMkLst>
            <pc:docMk/>
            <pc:sldMk cId="230914827" sldId="271"/>
            <ac:spMk id="3" creationId="{625907E2-02AB-4FC8-8372-75485A2CCADC}"/>
          </ac:spMkLst>
        </pc:spChg>
        <pc:spChg chg="mod">
          <ac:chgData name="Toby Donaldson" userId="2e6e5431-bb17-4c41-9985-d39c50d83c73" providerId="ADAL" clId="{F31BC264-820E-54C4-A6D1-F92AF9CC222E}" dt="2026-05-28T23:31:33.651" v="141" actId="14100"/>
          <ac:spMkLst>
            <pc:docMk/>
            <pc:sldMk cId="230914827" sldId="271"/>
            <ac:spMk id="4" creationId="{1AB9C04D-6CD3-48A5-BEAC-80EB44E5AF49}"/>
          </ac:spMkLst>
        </pc:spChg>
      </pc:sldChg>
      <pc:sldChg chg="delSp modAnim">
        <pc:chgData name="Toby Donaldson" userId="2e6e5431-bb17-4c41-9985-d39c50d83c73" providerId="ADAL" clId="{F31BC264-820E-54C4-A6D1-F92AF9CC222E}" dt="2026-05-25T00:05:41.749" v="1" actId="21"/>
        <pc:sldMkLst>
          <pc:docMk/>
          <pc:sldMk cId="2446982689" sldId="275"/>
        </pc:sldMkLst>
      </pc:sldChg>
      <pc:sldChg chg="delSp modAnim">
        <pc:chgData name="Toby Donaldson" userId="2e6e5431-bb17-4c41-9985-d39c50d83c73" providerId="ADAL" clId="{F31BC264-820E-54C4-A6D1-F92AF9CC222E}" dt="2026-05-25T00:06:13.110" v="5" actId="21"/>
        <pc:sldMkLst>
          <pc:docMk/>
          <pc:sldMk cId="390346067" sldId="276"/>
        </pc:sldMkLst>
      </pc:sldChg>
      <pc:sldChg chg="delSp modAnim">
        <pc:chgData name="Toby Donaldson" userId="2e6e5431-bb17-4c41-9985-d39c50d83c73" providerId="ADAL" clId="{F31BC264-820E-54C4-A6D1-F92AF9CC222E}" dt="2026-05-25T00:06:01.116" v="3" actId="21"/>
        <pc:sldMkLst>
          <pc:docMk/>
          <pc:sldMk cId="4198230947" sldId="277"/>
        </pc:sldMkLst>
      </pc:sldChg>
      <pc:sldChg chg="add">
        <pc:chgData name="Toby Donaldson" userId="2e6e5431-bb17-4c41-9985-d39c50d83c73" providerId="ADAL" clId="{F31BC264-820E-54C4-A6D1-F92AF9CC222E}" dt="2026-05-25T00:05:37.304" v="0" actId="2890"/>
        <pc:sldMkLst>
          <pc:docMk/>
          <pc:sldMk cId="571005744" sldId="279"/>
        </pc:sldMkLst>
      </pc:sldChg>
      <pc:sldChg chg="add">
        <pc:chgData name="Toby Donaldson" userId="2e6e5431-bb17-4c41-9985-d39c50d83c73" providerId="ADAL" clId="{F31BC264-820E-54C4-A6D1-F92AF9CC222E}" dt="2026-05-25T00:05:56.753" v="2" actId="2890"/>
        <pc:sldMkLst>
          <pc:docMk/>
          <pc:sldMk cId="2469303113" sldId="280"/>
        </pc:sldMkLst>
      </pc:sldChg>
      <pc:sldChg chg="add">
        <pc:chgData name="Toby Donaldson" userId="2e6e5431-bb17-4c41-9985-d39c50d83c73" providerId="ADAL" clId="{F31BC264-820E-54C4-A6D1-F92AF9CC222E}" dt="2026-05-25T00:06:09.667" v="4" actId="2890"/>
        <pc:sldMkLst>
          <pc:docMk/>
          <pc:sldMk cId="1555714967" sldId="281"/>
        </pc:sldMkLst>
      </pc:sldChg>
    </pc:docChg>
  </pc:docChgLst>
  <pc:docChgLst>
    <pc:chgData name="Toby Donaldson" userId="2e6e5431-bb17-4c41-9985-d39c50d83c73" providerId="ADAL" clId="{7F9681A8-EEE2-56F4-9B39-ECCBEE0471AC}"/>
    <pc:docChg chg="delSld modSld">
      <pc:chgData name="Toby Donaldson" userId="2e6e5431-bb17-4c41-9985-d39c50d83c73" providerId="ADAL" clId="{7F9681A8-EEE2-56F4-9B39-ECCBEE0471AC}" dt="2026-05-25T18:26:38.194" v="2" actId="20577"/>
      <pc:docMkLst>
        <pc:docMk/>
      </pc:docMkLst>
      <pc:sldChg chg="modSp mod">
        <pc:chgData name="Toby Donaldson" userId="2e6e5431-bb17-4c41-9985-d39c50d83c73" providerId="ADAL" clId="{7F9681A8-EEE2-56F4-9B39-ECCBEE0471AC}" dt="2026-05-25T18:26:38.194" v="2" actId="20577"/>
        <pc:sldMkLst>
          <pc:docMk/>
          <pc:sldMk cId="598291729" sldId="278"/>
        </pc:sldMkLst>
        <pc:spChg chg="mod">
          <ac:chgData name="Toby Donaldson" userId="2e6e5431-bb17-4c41-9985-d39c50d83c73" providerId="ADAL" clId="{7F9681A8-EEE2-56F4-9B39-ECCBEE0471AC}" dt="2026-05-25T18:26:38.194" v="2" actId="20577"/>
          <ac:spMkLst>
            <pc:docMk/>
            <pc:sldMk cId="598291729" sldId="278"/>
            <ac:spMk id="7" creationId="{729F9EAB-E96A-4A13-B339-346BBE62D0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6C6F-91BD-4721-931A-A59463317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18D3D-4490-441B-ABF3-EB20DE394D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C5BE7-4A4D-4923-A970-19EA6B5E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11635-9A34-430A-8A8D-1F6FEE41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20716-2CFB-4DEE-A2E5-FC360CED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97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F520C-FF1A-43C8-BED7-62C292D3A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4839-9798-46B2-A451-21992BE98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AA01B-DE39-4867-BAE6-D4BFDA3F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74032-621A-4B6E-BFDD-48D2C02E9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5AC73-A8A2-4BAE-BDBB-BE2E6533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7164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1880-DF24-47E5-805E-2C5ED014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27DAB-4A9B-4C55-B50F-A7AE0080C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F556B-C30B-4E9F-A47D-D83C81E47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7D7F-1FDF-41BB-9A92-85A6C295E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4AA4E-6E9E-43BD-B838-CCE621CC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473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14B0-EB25-41CD-9B03-932858FE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15DDC-E014-4315-93C0-F6A62DF83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24C33-63D4-4E7A-908C-11C6110A5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A47136-995A-471D-B193-71DA35AD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C18AB-A888-482F-879A-45D8E70C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9492D-69AD-4D63-AE06-BB9679B4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762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42C12-E557-4AB1-86DF-9F6F4A85B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D07B-8393-4C22-AFFF-C620519D6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F7E17-4059-46F9-A269-CCD40D4E7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69C5B5-FD72-4392-A2BE-6AC7E1451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44CD6-27D9-48F7-B978-BBF4328E3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B3B4F-A9ED-4001-BB66-46201EB99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325912-6CBE-42C3-A77A-472669D3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C89E5F-BFA4-43F6-B858-A5C58F91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016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51B78-3704-4B13-B2A7-B3D2E35A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6678E-24D4-4152-B104-492FB5BC4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F00D92-EE17-42C6-9172-09501457F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B82C3-D695-40A2-8951-0583EB1EE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444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60E068-D43A-44CA-AD0B-AF8C2D562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07CC6-5CE8-4EAA-8221-B7B7FB044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F438-8A46-45B4-B915-5FF342A7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9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7816-A98B-4327-B66B-870CCF1B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64641-DF89-4A08-9EA2-3F6BAF4C3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2E391-ED7A-4CBE-82A0-2E787AB10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E76FB-6CAA-445D-9937-74835F2E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1DE50-6AD7-4E1D-840A-C8BB368B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2C8F6-CDDF-4F2D-8382-6C6C3C066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110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68EE-A440-4BE7-8FA4-8B0C19D3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611A3B-761F-493E-A7FF-F30594B1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EF268-B2E5-4F98-A356-FD47E3F63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D73E5-261C-410C-8F2A-35ECD903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6E0A7-AEA5-45B4-B55A-269FFB55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2DF7B-1889-4B2D-AF8F-587E34C7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52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CF56-DAB6-4DB9-A2D2-81F8640D8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265D3E-D3A9-4085-9F4A-29128FC7A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A37A3-954D-447E-B804-626877BD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BDFD-F303-4C34-9E4C-C689CAC81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959E-AB91-4E1C-A5D4-7C434BF40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056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4DE49-A604-4F28-A2B4-73C0FC123C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81BD9-F685-441C-9803-7AC835B76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86F6B-8366-4903-8436-FF7770520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0EE11-6AEF-426B-9B77-68A2AAF41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37FED-047B-4EC4-A2F0-2FA47492E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6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3DC5B7-281C-4851-A0AE-6543A4FB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FE235-CEFD-4ABB-B6FB-F1802FE8D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DEA91-9B78-4DFD-A2E5-7D6325AF0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E533D-5A30-424C-ADAA-EBA918E78813}" type="datetimeFigureOut">
              <a:rPr lang="en-AU" smtClean="0"/>
              <a:t>28/5/2026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65EC0-490B-4003-94B8-832E7F4CDF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97898-400D-418B-B00C-BB8023D95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00A65-8456-4E7E-90F9-4C62519737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094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benchmarksgame-team.pages.debian.net/benchmarksgame/index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2A3EA073-AB11-414C-9B52-4FAACFDEB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3012" y="848996"/>
            <a:ext cx="5291667" cy="198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7C7C6C7-9397-46B2-A2FF-C632EDA7C632}"/>
              </a:ext>
            </a:extLst>
          </p:cNvPr>
          <p:cNvGrpSpPr/>
          <p:nvPr/>
        </p:nvGrpSpPr>
        <p:grpSpPr>
          <a:xfrm>
            <a:off x="6418132" y="2916874"/>
            <a:ext cx="5291666" cy="3330776"/>
            <a:chOff x="643467" y="1894417"/>
            <a:chExt cx="5291666" cy="3330776"/>
          </a:xfrm>
        </p:grpSpPr>
        <p:pic>
          <p:nvPicPr>
            <p:cNvPr id="2050" name="Picture 2" descr="Gopher image">
              <a:extLst>
                <a:ext uri="{FF2B5EF4-FFF2-40B4-BE49-F238E27FC236}">
                  <a16:creationId xmlns:a16="http://schemas.microsoft.com/office/drawing/2014/main" id="{D9EF78EA-B97C-4BC3-831F-ACE9C30B82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43467" y="1894417"/>
              <a:ext cx="5291666" cy="30691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78C8077-C1D4-400C-BAE0-7AC48F397C35}"/>
                </a:ext>
              </a:extLst>
            </p:cNvPr>
            <p:cNvSpPr txBox="1"/>
            <p:nvPr/>
          </p:nvSpPr>
          <p:spPr>
            <a:xfrm>
              <a:off x="643467" y="4963583"/>
              <a:ext cx="529166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100"/>
                <a:t>Artwork by Renee French</a:t>
              </a:r>
              <a:endParaRPr lang="en-AU" sz="110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326F70-6E73-48ED-853E-D802A1F7CD4A}"/>
              </a:ext>
            </a:extLst>
          </p:cNvPr>
          <p:cNvSpPr txBox="1"/>
          <p:nvPr/>
        </p:nvSpPr>
        <p:spPr>
          <a:xfrm>
            <a:off x="5889826" y="1302574"/>
            <a:ext cx="63021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/>
              <a:t>A popular procedural language with</a:t>
            </a:r>
          </a:p>
          <a:p>
            <a:r>
              <a:rPr lang="en-CA" sz="3200"/>
              <a:t>support for objects and concurrency.</a:t>
            </a:r>
            <a:endParaRPr lang="en-AU" sz="3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F9EAB-E96A-4A13-B339-346BBE62D038}"/>
              </a:ext>
            </a:extLst>
          </p:cNvPr>
          <p:cNvSpPr txBox="1"/>
          <p:nvPr/>
        </p:nvSpPr>
        <p:spPr>
          <a:xfrm>
            <a:off x="1466057" y="4316150"/>
            <a:ext cx="28055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600"/>
              <a:t>CMPT 383</a:t>
            </a:r>
          </a:p>
          <a:p>
            <a:pPr algn="ctr"/>
            <a:r>
              <a:rPr lang="en-CA" sz="3600"/>
              <a:t>Summer 2026</a:t>
            </a:r>
          </a:p>
          <a:p>
            <a:pPr algn="ctr"/>
            <a:r>
              <a:rPr lang="en-CA" sz="3600"/>
              <a:t>SFU Surrey</a:t>
            </a:r>
            <a:endParaRPr lang="en-AU" sz="3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2E5120-9846-4325-A51B-589BC6A79787}"/>
              </a:ext>
            </a:extLst>
          </p:cNvPr>
          <p:cNvSpPr txBox="1"/>
          <p:nvPr/>
        </p:nvSpPr>
        <p:spPr>
          <a:xfrm>
            <a:off x="1529376" y="2564999"/>
            <a:ext cx="26789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 i="1"/>
              <a:t>2009</a:t>
            </a:r>
            <a:endParaRPr lang="en-AU" sz="9600" i="1"/>
          </a:p>
        </p:txBody>
      </p:sp>
    </p:spTree>
    <p:extLst>
      <p:ext uri="{BB962C8B-B14F-4D97-AF65-F5344CB8AC3E}">
        <p14:creationId xmlns:p14="http://schemas.microsoft.com/office/powerpoint/2010/main" val="598291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105B6D-9708-4D3F-8738-4E92FD6B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9239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CA" sz="6600"/>
              <a:t>What was going on in 2009?</a:t>
            </a:r>
            <a:endParaRPr lang="en-AU" sz="6600"/>
          </a:p>
        </p:txBody>
      </p:sp>
    </p:spTree>
    <p:extLst>
      <p:ext uri="{BB962C8B-B14F-4D97-AF65-F5344CB8AC3E}">
        <p14:creationId xmlns:p14="http://schemas.microsoft.com/office/powerpoint/2010/main" val="124746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6FCE7-DB3A-40C9-92A2-796AAF385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First Appearance</a:t>
            </a:r>
            <a:endParaRPr lang="en-A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2A44120-9C25-4E7C-896D-05337D9D4402}"/>
              </a:ext>
            </a:extLst>
          </p:cNvPr>
          <p:cNvGrpSpPr/>
          <p:nvPr/>
        </p:nvGrpSpPr>
        <p:grpSpPr>
          <a:xfrm>
            <a:off x="1191985" y="2640019"/>
            <a:ext cx="1633908" cy="1967594"/>
            <a:chOff x="682028" y="1563987"/>
            <a:chExt cx="2381250" cy="2750582"/>
          </a:xfrm>
        </p:grpSpPr>
        <p:pic>
          <p:nvPicPr>
            <p:cNvPr id="1026" name="Picture 2" descr="Bitcoin - Open source P2P money">
              <a:extLst>
                <a:ext uri="{FF2B5EF4-FFF2-40B4-BE49-F238E27FC236}">
                  <a16:creationId xmlns:a16="http://schemas.microsoft.com/office/drawing/2014/main" id="{2DABC8AA-F36D-4F0F-8AAB-765E5AB1D1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2028" y="1563987"/>
              <a:ext cx="2381250" cy="2381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F7C823-AF34-49AA-BF58-AFBD7E6149DE}"/>
                </a:ext>
              </a:extLst>
            </p:cNvPr>
            <p:cNvSpPr txBox="1"/>
            <p:nvPr/>
          </p:nvSpPr>
          <p:spPr>
            <a:xfrm>
              <a:off x="1293542" y="3945237"/>
              <a:ext cx="8291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Bitcoin</a:t>
              </a:r>
              <a:endParaRPr lang="en-AU"/>
            </a:p>
          </p:txBody>
        </p:sp>
      </p:grpSp>
      <p:pic>
        <p:nvPicPr>
          <p:cNvPr id="1028" name="Picture 4" descr="846 Uber Logo Stock Photos and Images - 123RF">
            <a:extLst>
              <a:ext uri="{FF2B5EF4-FFF2-40B4-BE49-F238E27FC236}">
                <a16:creationId xmlns:a16="http://schemas.microsoft.com/office/drawing/2014/main" id="{388C6D71-F4A0-4EB0-92DB-4DB4A8003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7495" r="2889" b="7845"/>
          <a:stretch/>
        </p:blipFill>
        <p:spPr bwMode="auto">
          <a:xfrm>
            <a:off x="3745504" y="2640019"/>
            <a:ext cx="2019301" cy="1967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necraft Logo PNG Transparent &amp; SVG Vector - Freebie Supply">
            <a:extLst>
              <a:ext uri="{FF2B5EF4-FFF2-40B4-BE49-F238E27FC236}">
                <a16:creationId xmlns:a16="http://schemas.microsoft.com/office/drawing/2014/main" id="{805A6672-4091-4926-935F-1FF4D989E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416" y="2679180"/>
            <a:ext cx="1719588" cy="1889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D367F33B-DDE3-4338-9BDA-E40691FED26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2" t="9497" r="15529" b="7707"/>
          <a:stretch/>
        </p:blipFill>
        <p:spPr>
          <a:xfrm>
            <a:off x="9323614" y="2759628"/>
            <a:ext cx="1828800" cy="172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3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Most Popular Console Video Game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982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FE86-3DEB-275F-4507-167E5CEC7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5D19-C626-EFB9-BC3D-CC8DF29B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Most Popular Console Video Game</a:t>
            </a:r>
            <a:endParaRPr lang="en-AU"/>
          </a:p>
        </p:txBody>
      </p:sp>
      <p:pic>
        <p:nvPicPr>
          <p:cNvPr id="2050" name="Picture 2" descr="Wii Sports - Wikipedia">
            <a:extLst>
              <a:ext uri="{FF2B5EF4-FFF2-40B4-BE49-F238E27FC236}">
                <a16:creationId xmlns:a16="http://schemas.microsoft.com/office/drawing/2014/main" id="{5D828328-A7C6-E155-EF8B-6545FF34D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292" y="1551895"/>
            <a:ext cx="3347357" cy="4699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005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74E6F-0FF1-43DD-A06C-EF7571CC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Highest-Grossing Movie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8230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47BA-CE95-BF82-3DD8-B070F432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4114-8F47-88D4-3B1E-7A434596C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Highest-Grossing Movie</a:t>
            </a:r>
            <a:endParaRPr lang="en-AU"/>
          </a:p>
        </p:txBody>
      </p:sp>
      <p:pic>
        <p:nvPicPr>
          <p:cNvPr id="1026" name="Picture 2" descr="The faces of two robots stand atop a pyramid. A helicopter flies over an industrial facility on the right side of the image, and a young couple is seen in front of the pyramid. The film title and credits are on the bottom of the poster.">
            <a:extLst>
              <a:ext uri="{FF2B5EF4-FFF2-40B4-BE49-F238E27FC236}">
                <a16:creationId xmlns:a16="http://schemas.microsoft.com/office/drawing/2014/main" id="{4754C072-2E38-DF55-4E0F-F05BD2265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318" y="1491103"/>
            <a:ext cx="3146412" cy="4899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049D47-B4B6-5813-59BE-11E7AC319C92}"/>
              </a:ext>
            </a:extLst>
          </p:cNvPr>
          <p:cNvSpPr txBox="1"/>
          <p:nvPr/>
        </p:nvSpPr>
        <p:spPr>
          <a:xfrm>
            <a:off x="6156816" y="2594318"/>
            <a:ext cx="509992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Transformers</a:t>
            </a:r>
            <a:br>
              <a:rPr lang="en-CA" sz="4400"/>
            </a:br>
            <a:r>
              <a:rPr lang="en-CA" sz="4400"/>
              <a:t>Revenge of the Fallen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2469303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FE3B9-A8FD-4AE1-B222-CF259E66F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Most Popular Song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346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A65B-0BA1-C61F-BFB5-5AC2C54A9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A515-13D8-4F8D-57D8-8BB2FE416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2009: Most Popular Song</a:t>
            </a:r>
            <a:endParaRPr lang="en-AU"/>
          </a:p>
        </p:txBody>
      </p:sp>
      <p:pic>
        <p:nvPicPr>
          <p:cNvPr id="3074" name="Picture 2" descr="SD &gt; The Black Eyed Peas - Boom Boom Pow [2009]">
            <a:extLst>
              <a:ext uri="{FF2B5EF4-FFF2-40B4-BE49-F238E27FC236}">
                <a16:creationId xmlns:a16="http://schemas.microsoft.com/office/drawing/2014/main" id="{A00A1E61-62FE-7305-8898-E519476CC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6"/>
          <a:stretch/>
        </p:blipFill>
        <p:spPr bwMode="auto">
          <a:xfrm>
            <a:off x="737667" y="1565490"/>
            <a:ext cx="6565380" cy="487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13378B-4D98-F0F1-CDAF-D68CF4CB9611}"/>
              </a:ext>
            </a:extLst>
          </p:cNvPr>
          <p:cNvSpPr txBox="1"/>
          <p:nvPr/>
        </p:nvSpPr>
        <p:spPr>
          <a:xfrm>
            <a:off x="7370893" y="2705725"/>
            <a:ext cx="476515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Boom </a:t>
            </a:r>
            <a:r>
              <a:rPr lang="en-CA" sz="4400" err="1"/>
              <a:t>Boom</a:t>
            </a:r>
            <a:r>
              <a:rPr lang="en-CA" sz="4400"/>
              <a:t> Pow,</a:t>
            </a:r>
          </a:p>
          <a:p>
            <a:r>
              <a:rPr lang="en-CA" sz="4400"/>
              <a:t>The Black Eyed Peas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155571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0" y="0"/>
            <a:ext cx="2460171" cy="1325563"/>
          </a:xfrm>
        </p:spPr>
        <p:txBody>
          <a:bodyPr/>
          <a:lstStyle/>
          <a:p>
            <a:r>
              <a:rPr lang="en-CA"/>
              <a:t>Go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B6F5-B7C4-45FC-86DA-6C2C9F035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164" y="1968953"/>
            <a:ext cx="4411436" cy="5815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>
                <a:solidFill>
                  <a:srgbClr val="00B0F0"/>
                </a:solidFill>
              </a:rPr>
              <a:t>Created at Google in 2007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E5F7F-5BC8-4569-A9FA-5DAD8E04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600" y="914582"/>
            <a:ext cx="7176463" cy="511066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F26BE97-798D-49EF-9786-87FD00E7C872}"/>
              </a:ext>
            </a:extLst>
          </p:cNvPr>
          <p:cNvSpPr txBox="1">
            <a:spLocks/>
          </p:cNvSpPr>
          <p:nvPr/>
        </p:nvSpPr>
        <p:spPr>
          <a:xfrm>
            <a:off x="566057" y="3280455"/>
            <a:ext cx="4411436" cy="776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CA">
                <a:solidFill>
                  <a:srgbClr val="00B0F0"/>
                </a:solidFill>
              </a:rPr>
              <a:t>First public release 2009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369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Go’s Original Designers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8B6F5-B7C4-45FC-86DA-6C2C9F035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884" y="1813152"/>
            <a:ext cx="8960868" cy="489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0" i="0">
                <a:solidFill>
                  <a:srgbClr val="202224"/>
                </a:solidFill>
                <a:effectLst/>
                <a:latin typeface="-apple-system"/>
              </a:rPr>
              <a:t>Robert </a:t>
            </a:r>
            <a:r>
              <a:rPr lang="en-AU" b="0" i="0" err="1">
                <a:solidFill>
                  <a:srgbClr val="202224"/>
                </a:solidFill>
                <a:effectLst/>
                <a:latin typeface="-apple-system"/>
              </a:rPr>
              <a:t>Griesemer</a:t>
            </a:r>
            <a:r>
              <a:rPr lang="en-AU">
                <a:solidFill>
                  <a:srgbClr val="202224"/>
                </a:solidFill>
                <a:latin typeface="-apple-system"/>
              </a:rPr>
              <a:t>           Rob Pike              </a:t>
            </a:r>
            <a:r>
              <a:rPr lang="en-AU" b="0" i="0">
                <a:solidFill>
                  <a:srgbClr val="202224"/>
                </a:solidFill>
                <a:effectLst/>
                <a:latin typeface="-apple-system"/>
              </a:rPr>
              <a:t>Ken Thompson</a:t>
            </a:r>
          </a:p>
          <a:p>
            <a:endParaRPr lang="en-AU"/>
          </a:p>
        </p:txBody>
      </p:sp>
      <p:pic>
        <p:nvPicPr>
          <p:cNvPr id="1028" name="Picture 4" descr="Golang - DEV Community">
            <a:extLst>
              <a:ext uri="{FF2B5EF4-FFF2-40B4-BE49-F238E27FC236}">
                <a16:creationId xmlns:a16="http://schemas.microsoft.com/office/drawing/2014/main" id="{F63A5FF6-58DE-48BD-A9B1-48525B4FA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84" y="2302328"/>
            <a:ext cx="8960868" cy="358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B41A5D-265E-4D39-9E76-1F47F32C6264}"/>
              </a:ext>
            </a:extLst>
          </p:cNvPr>
          <p:cNvSpPr txBox="1"/>
          <p:nvPr/>
        </p:nvSpPr>
        <p:spPr>
          <a:xfrm>
            <a:off x="10248690" y="1537777"/>
            <a:ext cx="1902279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One of the original designers of Unix. Also won a Turing Award!</a:t>
            </a:r>
            <a:endParaRPr lang="en-A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44B869E9-FA8B-4FD1-AAE5-D14329C27947}"/>
              </a:ext>
            </a:extLst>
          </p:cNvPr>
          <p:cNvSpPr/>
          <p:nvPr/>
        </p:nvSpPr>
        <p:spPr>
          <a:xfrm rot="8897445">
            <a:off x="8875698" y="2598222"/>
            <a:ext cx="1382681" cy="365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324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Go Can Get You a Job!</a:t>
            </a:r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46FF6-47E5-44B7-8A35-21E8D8B00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86" y="1766655"/>
            <a:ext cx="11298227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01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4F8B7-DF69-4161-80D5-5D65C38F8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3737" y="286063"/>
            <a:ext cx="5064579" cy="1325563"/>
          </a:xfrm>
        </p:spPr>
        <p:txBody>
          <a:bodyPr/>
          <a:lstStyle/>
          <a:p>
            <a:r>
              <a:rPr lang="en-CA"/>
              <a:t>What’s Go </a:t>
            </a:r>
            <a:r>
              <a:rPr lang="en-CA">
                <a:solidFill>
                  <a:srgbClr val="FF0000"/>
                </a:solidFill>
              </a:rPr>
              <a:t>Good</a:t>
            </a:r>
            <a:r>
              <a:rPr lang="en-CA"/>
              <a:t> For?</a:t>
            </a:r>
            <a:endParaRPr lang="en-A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E1B374-1FC5-44A7-88F5-BC6F7C732922}"/>
              </a:ext>
            </a:extLst>
          </p:cNvPr>
          <p:cNvGrpSpPr/>
          <p:nvPr/>
        </p:nvGrpSpPr>
        <p:grpSpPr>
          <a:xfrm>
            <a:off x="4124116" y="2571591"/>
            <a:ext cx="3494056" cy="1909468"/>
            <a:chOff x="5070724" y="1690688"/>
            <a:chExt cx="3494056" cy="1909468"/>
          </a:xfrm>
        </p:grpSpPr>
        <p:pic>
          <p:nvPicPr>
            <p:cNvPr id="2054" name="Picture 6" descr="The world's fastest framework for building websites | Hugo">
              <a:extLst>
                <a:ext uri="{FF2B5EF4-FFF2-40B4-BE49-F238E27FC236}">
                  <a16:creationId xmlns:a16="http://schemas.microsoft.com/office/drawing/2014/main" id="{464803B0-B645-4969-A2AA-8854E243B5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52101" y="1690688"/>
              <a:ext cx="3412679" cy="8939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DB74DA-5F0A-4AE9-81F4-7C084E4F2041}"/>
                </a:ext>
              </a:extLst>
            </p:cNvPr>
            <p:cNvSpPr txBox="1"/>
            <p:nvPr/>
          </p:nvSpPr>
          <p:spPr>
            <a:xfrm>
              <a:off x="5070724" y="2676826"/>
              <a:ext cx="341633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>
                  <a:solidFill>
                    <a:srgbClr val="C00000"/>
                  </a:solidFill>
                </a:rPr>
                <a:t>Websites and servers </a:t>
              </a:r>
            </a:p>
            <a:p>
              <a:pPr algn="ctr"/>
              <a:r>
                <a:rPr lang="en-CA">
                  <a:solidFill>
                    <a:srgbClr val="C00000"/>
                  </a:solidFill>
                </a:rPr>
                <a:t>e.g.</a:t>
              </a:r>
              <a:r>
                <a:rPr lang="en-CA" b="1">
                  <a:solidFill>
                    <a:srgbClr val="C00000"/>
                  </a:solidFill>
                </a:rPr>
                <a:t> </a:t>
              </a:r>
              <a:r>
                <a:rPr lang="en-CA">
                  <a:solidFill>
                    <a:srgbClr val="C00000"/>
                  </a:solidFill>
                </a:rPr>
                <a:t>Hugo is a popular</a:t>
              </a:r>
              <a:br>
                <a:rPr lang="en-CA">
                  <a:solidFill>
                    <a:srgbClr val="C00000"/>
                  </a:solidFill>
                </a:rPr>
              </a:br>
              <a:r>
                <a:rPr lang="en-CA">
                  <a:solidFill>
                    <a:srgbClr val="C00000"/>
                  </a:solidFill>
                </a:rPr>
                <a:t>static website generator</a:t>
              </a:r>
              <a:endParaRPr lang="en-AU">
                <a:solidFill>
                  <a:srgbClr val="C0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800063-A3E1-4134-BC4D-FBA76FFBA210}"/>
              </a:ext>
            </a:extLst>
          </p:cNvPr>
          <p:cNvGrpSpPr/>
          <p:nvPr/>
        </p:nvGrpSpPr>
        <p:grpSpPr>
          <a:xfrm>
            <a:off x="812687" y="333311"/>
            <a:ext cx="2549515" cy="3536957"/>
            <a:chOff x="8983027" y="1497529"/>
            <a:chExt cx="2549515" cy="3536957"/>
          </a:xfrm>
        </p:grpSpPr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DDA5EE6F-83A1-4998-952E-78F07F192B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83027" y="1497529"/>
              <a:ext cx="2549515" cy="3059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742675-7EF7-4BD1-A10E-D0088FDAFF78}"/>
                </a:ext>
              </a:extLst>
            </p:cNvPr>
            <p:cNvSpPr txBox="1"/>
            <p:nvPr/>
          </p:nvSpPr>
          <p:spPr>
            <a:xfrm>
              <a:off x="8983027" y="4665154"/>
              <a:ext cx="25495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>
                  <a:solidFill>
                    <a:srgbClr val="C00000"/>
                  </a:solidFill>
                </a:rPr>
                <a:t>Command-line utilities</a:t>
              </a:r>
              <a:r>
                <a:rPr lang="en-CA">
                  <a:solidFill>
                    <a:srgbClr val="C00000"/>
                  </a:solidFill>
                </a:rPr>
                <a:t>.</a:t>
              </a:r>
              <a:endParaRPr lang="en-AU">
                <a:solidFill>
                  <a:srgbClr val="C0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A69C1C9-F7AC-441A-A7DA-A5714041AF81}"/>
              </a:ext>
            </a:extLst>
          </p:cNvPr>
          <p:cNvGrpSpPr/>
          <p:nvPr/>
        </p:nvGrpSpPr>
        <p:grpSpPr>
          <a:xfrm>
            <a:off x="7940124" y="3455055"/>
            <a:ext cx="4036884" cy="2937529"/>
            <a:chOff x="615593" y="1619418"/>
            <a:chExt cx="4036884" cy="2937529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74DE0F23-68B4-48D2-AD7B-79DD40A8B9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619418"/>
              <a:ext cx="1593324" cy="1363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Kubernetes-logo - The CloudStack Company">
              <a:extLst>
                <a:ext uri="{FF2B5EF4-FFF2-40B4-BE49-F238E27FC236}">
                  <a16:creationId xmlns:a16="http://schemas.microsoft.com/office/drawing/2014/main" id="{E7836B64-DAA8-4A0D-89B8-6F059953D5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593" y="3193675"/>
              <a:ext cx="2038538" cy="13632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FBA5532F-96D0-4C9F-8F56-96077A42B0B6}"/>
                </a:ext>
              </a:extLst>
            </p:cNvPr>
            <p:cNvSpPr/>
            <p:nvPr/>
          </p:nvSpPr>
          <p:spPr>
            <a:xfrm>
              <a:off x="2571750" y="1690688"/>
              <a:ext cx="355745" cy="2546576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98E3AE-9B04-4784-B6E6-FA4E8856E886}"/>
                </a:ext>
              </a:extLst>
            </p:cNvPr>
            <p:cNvSpPr txBox="1"/>
            <p:nvPr/>
          </p:nvSpPr>
          <p:spPr>
            <a:xfrm>
              <a:off x="2880391" y="2502311"/>
              <a:ext cx="177208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b="1">
                  <a:solidFill>
                    <a:srgbClr val="C00000"/>
                  </a:solidFill>
                </a:rPr>
                <a:t>DevOps</a:t>
              </a:r>
              <a:r>
                <a:rPr lang="en-CA">
                  <a:solidFill>
                    <a:srgbClr val="C00000"/>
                  </a:solidFill>
                </a:rPr>
                <a:t> tools Like Docker and Kubernetes</a:t>
              </a:r>
              <a:endParaRPr lang="en-AU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76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0837-CC6E-409E-828B-6F1525694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/>
              <a:t>What’s Go </a:t>
            </a:r>
            <a:r>
              <a:rPr lang="en-CA">
                <a:solidFill>
                  <a:srgbClr val="FF0000"/>
                </a:solidFill>
              </a:rPr>
              <a:t>Not</a:t>
            </a:r>
            <a:r>
              <a:rPr lang="en-CA"/>
              <a:t> so Good For? 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EADE-0C03-49DA-BB59-0942833F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5264" cy="4351338"/>
          </a:xfrm>
        </p:spPr>
        <p:txBody>
          <a:bodyPr/>
          <a:lstStyle/>
          <a:p>
            <a:r>
              <a:rPr lang="en-CA"/>
              <a:t>Go is </a:t>
            </a:r>
            <a:r>
              <a:rPr lang="en-CA" b="1"/>
              <a:t>garbage collected</a:t>
            </a:r>
            <a:r>
              <a:rPr lang="en-CA"/>
              <a:t>, so you don’t get same flexibility as C/C++ when it comes to memory management</a:t>
            </a:r>
          </a:p>
          <a:p>
            <a:r>
              <a:rPr lang="en-AU"/>
              <a:t>Go is generally </a:t>
            </a:r>
            <a:r>
              <a:rPr lang="en-AU">
                <a:solidFill>
                  <a:srgbClr val="FF0000"/>
                </a:solidFill>
              </a:rPr>
              <a:t>not</a:t>
            </a:r>
            <a:r>
              <a:rPr lang="en-AU"/>
              <a:t> as efficient as C, C++, Rust, so it is </a:t>
            </a:r>
            <a:r>
              <a:rPr lang="en-AU">
                <a:solidFill>
                  <a:srgbClr val="FF0000"/>
                </a:solidFill>
              </a:rPr>
              <a:t>not</a:t>
            </a:r>
            <a:r>
              <a:rPr lang="en-AU"/>
              <a:t> the best choice when performance is the primary concern</a:t>
            </a:r>
          </a:p>
          <a:p>
            <a:r>
              <a:rPr lang="en-AU"/>
              <a:t>Go discourages “clever” code in favour of straightforward, simple code that some programmers think is not as “fun” and makes programs longer and more tedious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E16A3-1414-47FA-A3BB-3ABF0D84A1FE}"/>
              </a:ext>
            </a:extLst>
          </p:cNvPr>
          <p:cNvSpPr txBox="1"/>
          <p:nvPr/>
        </p:nvSpPr>
        <p:spPr>
          <a:xfrm>
            <a:off x="9009288" y="1825625"/>
            <a:ext cx="2857501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Measuring the performance of different programming languages is surprisingly difficult to do fairly. Check out </a:t>
            </a:r>
            <a:r>
              <a:rPr lang="en-US">
                <a:hlinkClick r:id="rId2"/>
              </a:rPr>
              <a:t>the Computer Language Benchmarks Game</a:t>
            </a:r>
            <a:r>
              <a:rPr lang="en-US"/>
              <a:t>.</a:t>
            </a:r>
            <a:endParaRPr lang="en-A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7720DB2-6405-4D41-B342-518B575893A4}"/>
              </a:ext>
            </a:extLst>
          </p:cNvPr>
          <p:cNvSpPr/>
          <p:nvPr/>
        </p:nvSpPr>
        <p:spPr>
          <a:xfrm rot="9572857">
            <a:off x="7895880" y="2976643"/>
            <a:ext cx="1098095" cy="2857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E401A-84BD-4DD8-8927-0E34EE1044A2}"/>
              </a:ext>
            </a:extLst>
          </p:cNvPr>
          <p:cNvSpPr txBox="1"/>
          <p:nvPr/>
        </p:nvSpPr>
        <p:spPr>
          <a:xfrm>
            <a:off x="8278586" y="4683059"/>
            <a:ext cx="2947307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Go was designed by software engineers needing to solve real-world problems</a:t>
            </a:r>
            <a:r>
              <a:rPr lang="en-US"/>
              <a:t>. They weren’t programming language theoreticians.</a:t>
            </a:r>
            <a:endParaRPr lang="en-AU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D4F540D-54AA-445E-A7CD-6F91D946B605}"/>
              </a:ext>
            </a:extLst>
          </p:cNvPr>
          <p:cNvSpPr/>
          <p:nvPr/>
        </p:nvSpPr>
        <p:spPr>
          <a:xfrm rot="11418652">
            <a:off x="7084717" y="4887106"/>
            <a:ext cx="1098095" cy="2857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2605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Major Features of Go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>
                <a:solidFill>
                  <a:srgbClr val="0070C0"/>
                </a:solidFill>
              </a:rPr>
              <a:t>Syntactically similar to C, but with some important differences</a:t>
            </a:r>
          </a:p>
          <a:p>
            <a:pPr marL="457200" lvl="1" indent="0">
              <a:buNone/>
            </a:pPr>
            <a:r>
              <a:rPr lang="en-AU"/>
              <a:t>Multiple ways to define new variables</a:t>
            </a:r>
          </a:p>
          <a:p>
            <a:pPr marL="457200" lvl="1" indent="0">
              <a:buNone/>
            </a:pPr>
            <a:r>
              <a:rPr lang="en-CA"/>
              <a:t>Optional semi-colons; some syntax simplifications</a:t>
            </a:r>
          </a:p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Compiled</a:t>
            </a:r>
          </a:p>
          <a:p>
            <a:pPr marL="457200" lvl="1" indent="0">
              <a:buNone/>
            </a:pPr>
            <a:r>
              <a:rPr lang="en-AU"/>
              <a:t>Fast compile times are one of the distinctive features of Go</a:t>
            </a:r>
          </a:p>
          <a:p>
            <a:pPr marL="0" indent="0">
              <a:buNone/>
            </a:pPr>
            <a:r>
              <a:rPr lang="en-AU">
                <a:solidFill>
                  <a:srgbClr val="0070C0"/>
                </a:solidFill>
              </a:rPr>
              <a:t>Memory-safe and garbage-collected</a:t>
            </a:r>
          </a:p>
          <a:p>
            <a:pPr marL="457200" lvl="1" indent="0">
              <a:buNone/>
            </a:pPr>
            <a:r>
              <a:rPr lang="en-AU"/>
              <a:t>No dangling pointers, no manual memory deletion</a:t>
            </a:r>
          </a:p>
          <a:p>
            <a:pPr marL="0" indent="0">
              <a:buNone/>
            </a:pPr>
            <a:r>
              <a:rPr lang="en-AU">
                <a:solidFill>
                  <a:srgbClr val="0070C0"/>
                </a:solidFill>
              </a:rPr>
              <a:t>Uses interfaces and embedding instead of inheritance</a:t>
            </a:r>
          </a:p>
          <a:p>
            <a:pPr marL="457200" lvl="1" indent="0">
              <a:buNone/>
            </a:pPr>
            <a:r>
              <a:rPr lang="en-AU"/>
              <a:t>Lack of inheritance is not usually a problem, but it can take some getting used to at first</a:t>
            </a:r>
          </a:p>
          <a:p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0F8C3-8A4E-4D65-AF48-A65148BFB617}"/>
              </a:ext>
            </a:extLst>
          </p:cNvPr>
          <p:cNvSpPr txBox="1"/>
          <p:nvPr/>
        </p:nvSpPr>
        <p:spPr>
          <a:xfrm>
            <a:off x="9035687" y="2505916"/>
            <a:ext cx="2947307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Apparently the decision to start the Go project was made while waiting for a C++ program to compile.</a:t>
            </a:r>
            <a:endParaRPr lang="en-A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6F8BE28-16A2-43FB-B28E-AC71885AC56E}"/>
              </a:ext>
            </a:extLst>
          </p:cNvPr>
          <p:cNvSpPr/>
          <p:nvPr/>
        </p:nvSpPr>
        <p:spPr>
          <a:xfrm rot="9423314">
            <a:off x="7857445" y="3116952"/>
            <a:ext cx="1098095" cy="2857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4411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Major Features of Go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Types</a:t>
            </a:r>
          </a:p>
          <a:p>
            <a:pPr marL="457200" lvl="1" indent="0">
              <a:buNone/>
            </a:pPr>
            <a:r>
              <a:rPr lang="en-CA"/>
              <a:t>Statically typed: type of values is known at run-time and checked by the compiler</a:t>
            </a:r>
          </a:p>
          <a:p>
            <a:pPr marL="457200" lvl="1" indent="0">
              <a:buNone/>
            </a:pPr>
            <a:r>
              <a:rPr lang="en-CA"/>
              <a:t>Basic numeric types</a:t>
            </a:r>
          </a:p>
          <a:p>
            <a:pPr marL="457200" lvl="1" indent="0">
              <a:buNone/>
            </a:pPr>
            <a:r>
              <a:rPr lang="en-CA"/>
              <a:t>Pointers</a:t>
            </a:r>
          </a:p>
          <a:p>
            <a:pPr marL="457200" lvl="1" indent="0">
              <a:buNone/>
            </a:pPr>
            <a:r>
              <a:rPr lang="en-CA"/>
              <a:t>Arrays</a:t>
            </a:r>
          </a:p>
          <a:p>
            <a:pPr marL="457200" lvl="1" indent="0">
              <a:buNone/>
            </a:pPr>
            <a:r>
              <a:rPr lang="en-CA"/>
              <a:t>Slices: “point” to a sequence of elements in an array</a:t>
            </a:r>
          </a:p>
          <a:p>
            <a:pPr marL="457200" lvl="1" indent="0">
              <a:buNone/>
            </a:pPr>
            <a:r>
              <a:rPr lang="en-CA"/>
              <a:t>Built-in hash maps</a:t>
            </a:r>
          </a:p>
          <a:p>
            <a:pPr marL="457200" lvl="1" indent="0">
              <a:buNone/>
            </a:pPr>
            <a:r>
              <a:rPr lang="en-CA"/>
              <a:t>Structures and interfaces</a:t>
            </a:r>
          </a:p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Functions</a:t>
            </a:r>
          </a:p>
          <a:p>
            <a:pPr marL="457200" lvl="1" indent="0">
              <a:buNone/>
            </a:pPr>
            <a:r>
              <a:rPr lang="en-CA"/>
              <a:t>Can return multiple values</a:t>
            </a:r>
          </a:p>
          <a:p>
            <a:pPr marL="457200" lvl="1" indent="0">
              <a:buNone/>
            </a:pPr>
            <a:r>
              <a:rPr lang="en-CA"/>
              <a:t>Methods are functions with a special “self” parameter that can be used with interfaces</a:t>
            </a:r>
          </a:p>
          <a:p>
            <a:pPr marL="457200" lvl="1" indent="0">
              <a:buNone/>
            </a:pPr>
            <a:r>
              <a:rPr lang="en-CA"/>
              <a:t>Closures: functions can be passed to functions and returned by functions</a:t>
            </a:r>
          </a:p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Packages and Modules</a:t>
            </a:r>
          </a:p>
          <a:p>
            <a:pPr marL="457200" lvl="1" indent="0">
              <a:buNone/>
            </a:pPr>
            <a:r>
              <a:rPr lang="en-CA"/>
              <a:t>Organized collections of code</a:t>
            </a:r>
          </a:p>
          <a:p>
            <a:pPr marL="457200" lvl="1" indent="0">
              <a:buNone/>
            </a:pPr>
            <a:r>
              <a:rPr lang="en-CA"/>
              <a:t>Support for downloading from online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949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Major Features of Go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Concurrency</a:t>
            </a:r>
          </a:p>
          <a:p>
            <a:pPr marL="457200" lvl="1" indent="0">
              <a:buNone/>
            </a:pPr>
            <a:r>
              <a:rPr lang="en-AU"/>
              <a:t>Based the </a:t>
            </a:r>
            <a:r>
              <a:rPr lang="en-AU" b="1"/>
              <a:t>CSP</a:t>
            </a:r>
            <a:r>
              <a:rPr lang="en-AU"/>
              <a:t> model of concurrency</a:t>
            </a:r>
            <a:endParaRPr lang="en-CA"/>
          </a:p>
          <a:p>
            <a:pPr marL="457200" lvl="1" indent="0">
              <a:buNone/>
            </a:pPr>
            <a:r>
              <a:rPr lang="en-CA"/>
              <a:t>Goroutines allow you to run multiple functions concurrently </a:t>
            </a:r>
          </a:p>
          <a:p>
            <a:pPr marL="457200" lvl="1" indent="0">
              <a:buNone/>
            </a:pPr>
            <a:r>
              <a:rPr lang="en-CA"/>
              <a:t>Channels communicate information between goroutines in a structured way</a:t>
            </a:r>
          </a:p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Extensive Standard Library</a:t>
            </a:r>
          </a:p>
          <a:p>
            <a:pPr marL="457200" lvl="1" indent="0">
              <a:buNone/>
            </a:pPr>
            <a:r>
              <a:rPr lang="en-CA"/>
              <a:t>Go is ready to write web servers and apps out of the box</a:t>
            </a:r>
          </a:p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Software tool support</a:t>
            </a:r>
          </a:p>
          <a:p>
            <a:pPr marL="457200" lvl="1" indent="0">
              <a:buNone/>
            </a:pPr>
            <a:r>
              <a:rPr lang="en-CA"/>
              <a:t>Syntax of Go was deliberately made as simple as possible to make it easier for software tools to process it</a:t>
            </a:r>
          </a:p>
          <a:p>
            <a:pPr marL="457200" lvl="1" indent="0">
              <a:buNone/>
            </a:pPr>
            <a:r>
              <a:rPr lang="en-CA"/>
              <a:t>Go source code has a standard format; use the </a:t>
            </a:r>
            <a:r>
              <a:rPr lang="en-CA" b="1" err="1"/>
              <a:t>gofmt</a:t>
            </a:r>
            <a:r>
              <a:rPr lang="en-CA"/>
              <a:t> tool</a:t>
            </a:r>
          </a:p>
          <a:p>
            <a:pPr marL="457200" lvl="1" indent="0">
              <a:buNone/>
            </a:pPr>
            <a:r>
              <a:rPr lang="en-CA"/>
              <a:t>Other standard tools, such as support for unit tests, fuzzing</a:t>
            </a:r>
          </a:p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Generics</a:t>
            </a:r>
          </a:p>
          <a:p>
            <a:pPr marL="457200" lvl="1" indent="0">
              <a:buNone/>
            </a:pPr>
            <a:r>
              <a:rPr lang="en-CA"/>
              <a:t>Added in Go 1.18 in 2022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00CDE-196A-4552-B023-0333B7AD5421}"/>
              </a:ext>
            </a:extLst>
          </p:cNvPr>
          <p:cNvSpPr txBox="1"/>
          <p:nvPr/>
        </p:nvSpPr>
        <p:spPr>
          <a:xfrm>
            <a:off x="6248946" y="1296492"/>
            <a:ext cx="310406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Many programmers say Go’s good built-in support for concurrency is its killer feature.</a:t>
            </a:r>
            <a:endParaRPr lang="en-AU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74B55C4-CE2C-4690-AC47-C8BB18081FD4}"/>
              </a:ext>
            </a:extLst>
          </p:cNvPr>
          <p:cNvSpPr/>
          <p:nvPr/>
        </p:nvSpPr>
        <p:spPr>
          <a:xfrm rot="10040552">
            <a:off x="5057221" y="1682751"/>
            <a:ext cx="1098095" cy="2857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4670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3DFDB-8487-48AA-A582-0CEA1385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Major Features </a:t>
            </a:r>
            <a:r>
              <a:rPr lang="en-CA">
                <a:solidFill>
                  <a:srgbClr val="FF0000"/>
                </a:solidFill>
              </a:rPr>
              <a:t>Not</a:t>
            </a:r>
            <a:r>
              <a:rPr lang="en-CA"/>
              <a:t> in Go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FAE3-7D9D-4DB0-A01B-CD046F1E7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>
                <a:solidFill>
                  <a:srgbClr val="0070C0"/>
                </a:solidFill>
              </a:rPr>
              <a:t>Features </a:t>
            </a:r>
            <a:r>
              <a:rPr lang="en-CA" b="1">
                <a:solidFill>
                  <a:srgbClr val="0070C0"/>
                </a:solidFill>
              </a:rPr>
              <a:t>not</a:t>
            </a:r>
            <a:r>
              <a:rPr lang="en-CA">
                <a:solidFill>
                  <a:srgbClr val="0070C0"/>
                </a:solidFill>
              </a:rPr>
              <a:t> part of Go</a:t>
            </a:r>
          </a:p>
          <a:p>
            <a:pPr marL="457200" lvl="1" indent="0">
              <a:buNone/>
            </a:pPr>
            <a:r>
              <a:rPr lang="en-CA">
                <a:solidFill>
                  <a:srgbClr val="FF0000"/>
                </a:solidFill>
              </a:rPr>
              <a:t>No</a:t>
            </a:r>
            <a:r>
              <a:rPr lang="en-CA"/>
              <a:t> inheritance</a:t>
            </a:r>
          </a:p>
          <a:p>
            <a:pPr marL="457200" lvl="1" indent="0">
              <a:buNone/>
            </a:pPr>
            <a:r>
              <a:rPr lang="en-CA">
                <a:solidFill>
                  <a:srgbClr val="FF0000"/>
                </a:solidFill>
              </a:rPr>
              <a:t>No</a:t>
            </a:r>
            <a:r>
              <a:rPr lang="en-CA"/>
              <a:t> pointer arithmetic</a:t>
            </a:r>
          </a:p>
          <a:p>
            <a:pPr marL="457200" lvl="1" indent="0">
              <a:buNone/>
            </a:pPr>
            <a:r>
              <a:rPr lang="en-CA">
                <a:solidFill>
                  <a:srgbClr val="FF0000"/>
                </a:solidFill>
              </a:rPr>
              <a:t>No</a:t>
            </a:r>
            <a:r>
              <a:rPr lang="en-CA"/>
              <a:t> assertions</a:t>
            </a:r>
          </a:p>
          <a:p>
            <a:pPr marL="457200" lvl="1" indent="0">
              <a:buNone/>
            </a:pPr>
            <a:r>
              <a:rPr lang="en-CA">
                <a:solidFill>
                  <a:srgbClr val="FF0000"/>
                </a:solidFill>
              </a:rPr>
              <a:t>No</a:t>
            </a:r>
            <a:r>
              <a:rPr lang="en-CA"/>
              <a:t> implicit type conversions</a:t>
            </a:r>
          </a:p>
          <a:p>
            <a:pPr marL="457200" lvl="1" indent="0">
              <a:buNone/>
            </a:pPr>
            <a:r>
              <a:rPr lang="en-CA">
                <a:solidFill>
                  <a:srgbClr val="FF0000"/>
                </a:solidFill>
              </a:rPr>
              <a:t>No</a:t>
            </a:r>
            <a:r>
              <a:rPr lang="en-CA"/>
              <a:t> C++-style exceptions; instead, defer/panic and functions return error values</a:t>
            </a:r>
          </a:p>
          <a:p>
            <a:pPr marL="457200" lvl="1" indent="0">
              <a:buNone/>
            </a:pPr>
            <a:r>
              <a:rPr lang="en-CA">
                <a:solidFill>
                  <a:srgbClr val="FF0000"/>
                </a:solidFill>
              </a:rPr>
              <a:t>No</a:t>
            </a:r>
            <a:r>
              <a:rPr lang="en-CA"/>
              <a:t> interpreter, compiled only</a:t>
            </a:r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BB552-C455-49CB-8B30-2880096E2410}"/>
              </a:ext>
            </a:extLst>
          </p:cNvPr>
          <p:cNvSpPr txBox="1"/>
          <p:nvPr/>
        </p:nvSpPr>
        <p:spPr>
          <a:xfrm>
            <a:off x="7560129" y="1825625"/>
            <a:ext cx="2710542" cy="14773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Go aims to be simple yet practical. The core rules of Go programming are pretty small compared to other modern languages.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0816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66DA8-3BC8-44C4-A6B8-4077E3A5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822" y="75519"/>
            <a:ext cx="10515600" cy="1325563"/>
          </a:xfrm>
        </p:spPr>
        <p:txBody>
          <a:bodyPr/>
          <a:lstStyle/>
          <a:p>
            <a:r>
              <a:rPr lang="en-CA"/>
              <a:t>Hello, World!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907E2-02AB-4FC8-8372-75485A2CC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6228" y="1401082"/>
            <a:ext cx="6477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>
                <a:latin typeface="Consolas" panose="020B0609020204030204" pitchFamily="49" charset="0"/>
              </a:rPr>
              <a:t>// </a:t>
            </a:r>
            <a:r>
              <a:rPr lang="en-AU" dirty="0" err="1">
                <a:latin typeface="Consolas" panose="020B0609020204030204" pitchFamily="49" charset="0"/>
              </a:rPr>
              <a:t>main.go</a:t>
            </a:r>
            <a:endParaRPr lang="en-A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A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dirty="0">
                <a:latin typeface="Consolas" panose="020B0609020204030204" pitchFamily="49" charset="0"/>
              </a:rPr>
              <a:t>package main</a:t>
            </a:r>
          </a:p>
          <a:p>
            <a:pPr marL="0" indent="0">
              <a:buNone/>
            </a:pPr>
            <a:endParaRPr lang="en-A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dirty="0">
                <a:latin typeface="Consolas" panose="020B0609020204030204" pitchFamily="49" charset="0"/>
              </a:rPr>
              <a:t>import "</a:t>
            </a:r>
            <a:r>
              <a:rPr lang="en-AU" dirty="0" err="1">
                <a:latin typeface="Consolas" panose="020B0609020204030204" pitchFamily="49" charset="0"/>
              </a:rPr>
              <a:t>fmt</a:t>
            </a:r>
            <a:r>
              <a:rPr lang="en-AU" dirty="0">
                <a:latin typeface="Consolas" panose="020B0609020204030204" pitchFamily="49" charset="0"/>
              </a:rPr>
              <a:t>"</a:t>
            </a:r>
          </a:p>
          <a:p>
            <a:pPr marL="0" indent="0">
              <a:buNone/>
            </a:pPr>
            <a:endParaRPr lang="en-AU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AU" dirty="0" err="1">
                <a:latin typeface="Consolas" panose="020B0609020204030204" pitchFamily="49" charset="0"/>
              </a:rPr>
              <a:t>func</a:t>
            </a:r>
            <a:r>
              <a:rPr lang="en-AU" dirty="0">
                <a:latin typeface="Consolas" panose="020B06090202040302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AU" dirty="0">
                <a:latin typeface="Consolas" panose="020B0609020204030204" pitchFamily="49" charset="0"/>
              </a:rPr>
              <a:t>    </a:t>
            </a:r>
            <a:r>
              <a:rPr lang="en-AU" dirty="0" err="1">
                <a:latin typeface="Consolas" panose="020B0609020204030204" pitchFamily="49" charset="0"/>
              </a:rPr>
              <a:t>fmt.Println</a:t>
            </a:r>
            <a:r>
              <a:rPr lang="en-AU" dirty="0">
                <a:latin typeface="Consolas" panose="020B0609020204030204" pitchFamily="49" charset="0"/>
              </a:rPr>
              <a:t>("Hello, world!")</a:t>
            </a:r>
          </a:p>
          <a:p>
            <a:pPr marL="0" indent="0">
              <a:buNone/>
            </a:pPr>
            <a:r>
              <a:rPr lang="en-A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B9C04D-6CD3-48A5-BEAC-80EB44E5AF49}"/>
              </a:ext>
            </a:extLst>
          </p:cNvPr>
          <p:cNvSpPr txBox="1"/>
          <p:nvPr/>
        </p:nvSpPr>
        <p:spPr>
          <a:xfrm>
            <a:off x="366030" y="1833789"/>
            <a:ext cx="201566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$ go run </a:t>
            </a:r>
            <a:r>
              <a:rPr lang="en-CA" dirty="0" err="1"/>
              <a:t>main.go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0914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Macintosh PowerPoint</Application>
  <PresentationFormat>Widescreen</PresentationFormat>
  <Paragraphs>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-apple-system</vt:lpstr>
      <vt:lpstr>Arial</vt:lpstr>
      <vt:lpstr>Calibri</vt:lpstr>
      <vt:lpstr>Calibri Light</vt:lpstr>
      <vt:lpstr>Consolas</vt:lpstr>
      <vt:lpstr>Office Theme</vt:lpstr>
      <vt:lpstr>PowerPoint Presentation</vt:lpstr>
      <vt:lpstr>What was going on in 2009?</vt:lpstr>
      <vt:lpstr>2009: First Appearance</vt:lpstr>
      <vt:lpstr>2009: Most Popular Console Video Game</vt:lpstr>
      <vt:lpstr>2009: Most Popular Console Video Game</vt:lpstr>
      <vt:lpstr>2009: Highest-Grossing Movie</vt:lpstr>
      <vt:lpstr>2009: Highest-Grossing Movie</vt:lpstr>
      <vt:lpstr>2009: Most Popular Song</vt:lpstr>
      <vt:lpstr>2009: Most Popular Song</vt:lpstr>
      <vt:lpstr>Go</vt:lpstr>
      <vt:lpstr>Go’s Original Designers</vt:lpstr>
      <vt:lpstr>Go Can Get You a Job!</vt:lpstr>
      <vt:lpstr>What’s Go Good For?</vt:lpstr>
      <vt:lpstr>What’s Go Not so Good For? </vt:lpstr>
      <vt:lpstr>Major Features of Go</vt:lpstr>
      <vt:lpstr>Major Features of Go</vt:lpstr>
      <vt:lpstr>Major Features of Go</vt:lpstr>
      <vt:lpstr>Major Features Not in Go</vt:lpstr>
      <vt:lpstr>Hello, World!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Toby Donaldson</dc:creator>
  <cp:lastModifiedBy>Toby Donaldson</cp:lastModifiedBy>
  <cp:revision>1</cp:revision>
  <dcterms:created xsi:type="dcterms:W3CDTF">2022-04-12T05:50:02Z</dcterms:created>
  <dcterms:modified xsi:type="dcterms:W3CDTF">2026-05-28T23:31:35Z</dcterms:modified>
</cp:coreProperties>
</file>