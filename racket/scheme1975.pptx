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74" r:id="rId4"/>
    <p:sldId id="275" r:id="rId5"/>
    <p:sldId id="277" r:id="rId6"/>
    <p:sldId id="276" r:id="rId7"/>
    <p:sldId id="272" r:id="rId8"/>
    <p:sldId id="266" r:id="rId9"/>
    <p:sldId id="265" r:id="rId10"/>
    <p:sldId id="259" r:id="rId11"/>
    <p:sldId id="267" r:id="rId12"/>
    <p:sldId id="270" r:id="rId13"/>
    <p:sldId id="260" r:id="rId14"/>
    <p:sldId id="261" r:id="rId15"/>
    <p:sldId id="264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 autoAdjust="0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modSld">
      <pc:chgData name="Toby Donaldson" userId="2e6e5431-bb17-4c41-9985-d39c50d83c73" providerId="ADAL" clId="{F31BC264-820E-54C4-A6D1-F92AF9CC222E}" dt="2026-06-11T05:43:10.037" v="10" actId="20577"/>
      <pc:docMkLst>
        <pc:docMk/>
      </pc:docMkLst>
      <pc:sldChg chg="modSp mod">
        <pc:chgData name="Toby Donaldson" userId="2e6e5431-bb17-4c41-9985-d39c50d83c73" providerId="ADAL" clId="{F31BC264-820E-54C4-A6D1-F92AF9CC222E}" dt="2026-06-11T05:43:10.037" v="10" actId="20577"/>
        <pc:sldMkLst>
          <pc:docMk/>
          <pc:sldMk cId="2446324911" sldId="265"/>
        </pc:sldMkLst>
        <pc:spChg chg="mod">
          <ac:chgData name="Toby Donaldson" userId="2e6e5431-bb17-4c41-9985-d39c50d83c73" providerId="ADAL" clId="{F31BC264-820E-54C4-A6D1-F92AF9CC222E}" dt="2026-06-11T05:43:10.037" v="10" actId="20577"/>
          <ac:spMkLst>
            <pc:docMk/>
            <pc:sldMk cId="2446324911" sldId="265"/>
            <ac:spMk id="13" creationId="{070A0247-E84A-DDE7-4901-76D5D335370E}"/>
          </ac:spMkLst>
        </pc:spChg>
      </pc:sldChg>
      <pc:sldChg chg="modSp mod">
        <pc:chgData name="Toby Donaldson" userId="2e6e5431-bb17-4c41-9985-d39c50d83c73" providerId="ADAL" clId="{F31BC264-820E-54C4-A6D1-F92AF9CC222E}" dt="2026-06-11T05:41:14.021" v="1" actId="20577"/>
        <pc:sldMkLst>
          <pc:docMk/>
          <pc:sldMk cId="598291729" sldId="278"/>
        </pc:sldMkLst>
        <pc:spChg chg="mod">
          <ac:chgData name="Toby Donaldson" userId="2e6e5431-bb17-4c41-9985-d39c50d83c73" providerId="ADAL" clId="{F31BC264-820E-54C4-A6D1-F92AF9CC222E}" dt="2026-06-11T05:41:14.021" v="1" actId="20577"/>
          <ac:spMkLst>
            <pc:docMk/>
            <pc:sldMk cId="598291729" sldId="278"/>
            <ac:spMk id="7" creationId="{729F9EAB-E96A-4A13-B339-346BBE62D0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6C6F-91BD-4721-931A-A59463317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18D3D-4490-441B-ABF3-EB20DE394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5BE7-4A4D-4923-A970-19EA6B5E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11635-9A34-430A-8A8D-1F6FEE41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0716-2CFB-4DEE-A2E5-FC360CED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897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520C-FF1A-43C8-BED7-62C292D3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4839-9798-46B2-A451-21992BE9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A01B-DE39-4867-BAE6-D4BFDA3F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4032-621A-4B6E-BFDD-48D2C02E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AC73-A8A2-4BAE-BDBB-BE2E6533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16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1880-DF24-47E5-805E-2C5ED014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7DAB-4A9B-4C55-B50F-A7AE0080C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F556B-C30B-4E9F-A47D-D83C81E4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7D7F-1FDF-41BB-9A92-85A6C295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4AA4E-6E9E-43BD-B838-CCE621CC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473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14B0-EB25-41CD-9B03-932858FE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15DDC-E014-4315-93C0-F6A62DF83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24C33-63D4-4E7A-908C-11C6110A5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47136-995A-471D-B193-71DA35AD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C18AB-A888-482F-879A-45D8E70C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9492D-69AD-4D63-AE06-BB9679B4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76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2C12-E557-4AB1-86DF-9F6F4A8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D07B-8393-4C22-AFFF-C620519D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F7E17-4059-46F9-A269-CCD40D4E7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69C5B5-FD72-4392-A2BE-6AC7E1451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44CD6-27D9-48F7-B978-BBF4328E3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B3B4F-A9ED-4001-BB66-46201EB9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25912-6CBE-42C3-A77A-472669D3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89E5F-BFA4-43F6-B858-A5C58F91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01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1B78-3704-4B13-B2A7-B3D2E35A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6678E-24D4-4152-B104-492FB5BC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00D92-EE17-42C6-9172-09501457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B82C3-D695-40A2-8951-0583EB1E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444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0E068-D43A-44CA-AD0B-AF8C2D56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07CC6-5CE8-4EAA-8221-B7B7FB04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0F438-8A46-45B4-B915-5FF342A7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9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7816-A98B-4327-B66B-870CCF1B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4641-DF89-4A08-9EA2-3F6BAF4C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E391-ED7A-4CBE-82A0-2E787AB10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E76FB-6CAA-445D-9937-74835F2E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1DE50-6AD7-4E1D-840A-C8BB368B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2C8F6-CDDF-4F2D-8382-6C6C3C06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11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68EE-A440-4BE7-8FA4-8B0C19D3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11A3B-761F-493E-A7FF-F30594B1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EF268-B2E5-4F98-A356-FD47E3F63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D73E5-261C-410C-8F2A-35ECD903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6E0A7-AEA5-45B4-B55A-269FFB55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2DF7B-1889-4B2D-AF8F-587E34C7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52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CF56-DAB6-4DB9-A2D2-81F8640D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65D3E-D3A9-4085-9F4A-29128FC7A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A37A3-954D-447E-B804-626877BD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BDFD-F303-4C34-9E4C-C689CAC8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959E-AB91-4E1C-A5D4-7C434BF4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6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4DE49-A604-4F28-A2B4-73C0FC123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81BD9-F685-441C-9803-7AC835B76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86F6B-8366-4903-8436-FF777052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0EE11-6AEF-426B-9B77-68A2AAF41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7FED-047B-4EC4-A2F0-2FA47492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6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DC5B7-281C-4851-A0AE-6543A4FB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FE235-CEFD-4ABB-B6FB-F1802FE8D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EA91-9B78-4DFD-A2E5-7D6325AF0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533D-5A30-424C-ADAA-EBA918E78813}" type="datetimeFigureOut">
              <a:rPr lang="en-AU" smtClean="0"/>
              <a:t>10/6/2026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5EC0-490B-4003-94B8-832E7F4CD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7898-400D-418B-B00C-BB8023D95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09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benchmarksgame-team.pages.debian.net/benchmarksgame/index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26F70-6E73-48ED-853E-D802A1F7CD4A}"/>
              </a:ext>
            </a:extLst>
          </p:cNvPr>
          <p:cNvSpPr txBox="1"/>
          <p:nvPr/>
        </p:nvSpPr>
        <p:spPr>
          <a:xfrm>
            <a:off x="4501581" y="1903944"/>
            <a:ext cx="65365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b="1" dirty="0"/>
              <a:t>Scheme</a:t>
            </a:r>
            <a:r>
              <a:rPr lang="en-CA" sz="3200" dirty="0"/>
              <a:t>/</a:t>
            </a:r>
            <a:r>
              <a:rPr lang="en-CA" sz="3200" b="1" dirty="0"/>
              <a:t>LISP</a:t>
            </a:r>
            <a:br>
              <a:rPr lang="en-CA" sz="3200" dirty="0"/>
            </a:br>
            <a:r>
              <a:rPr lang="en-CA" sz="3200" dirty="0"/>
              <a:t>A functional and dynamically typed language with good support for lists and higher order functions.</a:t>
            </a:r>
            <a:endParaRPr lang="en-A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F9EAB-E96A-4A13-B339-346BBE62D038}"/>
              </a:ext>
            </a:extLst>
          </p:cNvPr>
          <p:cNvSpPr txBox="1"/>
          <p:nvPr/>
        </p:nvSpPr>
        <p:spPr>
          <a:xfrm>
            <a:off x="6367068" y="4640746"/>
            <a:ext cx="2805576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CA" sz="3600" dirty="0"/>
              <a:t>CMPT 383</a:t>
            </a:r>
          </a:p>
          <a:p>
            <a:pPr algn="ctr"/>
            <a:r>
              <a:rPr lang="en-CA" sz="3600" dirty="0"/>
              <a:t>Summer 2026</a:t>
            </a:r>
          </a:p>
          <a:p>
            <a:pPr algn="ctr"/>
            <a:r>
              <a:rPr lang="en-CA" sz="3600" dirty="0"/>
              <a:t>SFU Surrey</a:t>
            </a:r>
            <a:endParaRPr lang="en-AU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E5120-9846-4325-A51B-589BC6A79787}"/>
              </a:ext>
            </a:extLst>
          </p:cNvPr>
          <p:cNvSpPr txBox="1"/>
          <p:nvPr/>
        </p:nvSpPr>
        <p:spPr>
          <a:xfrm>
            <a:off x="848879" y="3855916"/>
            <a:ext cx="26789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 i="1" dirty="0"/>
              <a:t>1975</a:t>
            </a:r>
            <a:endParaRPr lang="en-AU" sz="9600" i="1" dirty="0"/>
          </a:p>
        </p:txBody>
      </p:sp>
      <p:pic>
        <p:nvPicPr>
          <p:cNvPr id="2" name="Picture 2" descr="Racket (programming language) - Wikipedia">
            <a:extLst>
              <a:ext uri="{FF2B5EF4-FFF2-40B4-BE49-F238E27FC236}">
                <a16:creationId xmlns:a16="http://schemas.microsoft.com/office/drawing/2014/main" id="{6CF7EA21-F47E-4D11-0CE9-5C10A59F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47" y="798499"/>
            <a:ext cx="2978202" cy="297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58FF75-2376-46F2-19E6-8CFEBBBDC59F}"/>
              </a:ext>
            </a:extLst>
          </p:cNvPr>
          <p:cNvSpPr txBox="1"/>
          <p:nvPr/>
        </p:nvSpPr>
        <p:spPr>
          <a:xfrm>
            <a:off x="1122683" y="5225521"/>
            <a:ext cx="18966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i="1" dirty="0"/>
              <a:t>LISP: 1958</a:t>
            </a:r>
            <a:endParaRPr lang="en-AU" sz="3200" i="1" dirty="0"/>
          </a:p>
        </p:txBody>
      </p:sp>
    </p:spTree>
    <p:extLst>
      <p:ext uri="{BB962C8B-B14F-4D97-AF65-F5344CB8AC3E}">
        <p14:creationId xmlns:p14="http://schemas.microsoft.com/office/powerpoint/2010/main" val="59829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105B6D-9708-4D3F-8738-4E92FD6B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923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 dirty="0"/>
              <a:t>What was going on in 1975?</a:t>
            </a:r>
            <a:endParaRPr lang="en-AU" sz="6600" dirty="0"/>
          </a:p>
        </p:txBody>
      </p:sp>
    </p:spTree>
    <p:extLst>
      <p:ext uri="{BB962C8B-B14F-4D97-AF65-F5344CB8AC3E}">
        <p14:creationId xmlns:p14="http://schemas.microsoft.com/office/powerpoint/2010/main" val="124746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CE7-DB3A-40C9-92A2-796AAF38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First Appearances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5B9D4-EA2B-7CB0-0CD8-0D1E7720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6" y="4497080"/>
            <a:ext cx="4220164" cy="186716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BB11DB6A-CA00-FBD5-56A1-AAAA9227F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167" y="1411611"/>
            <a:ext cx="1455768" cy="229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D67297-229B-3E0F-FFE3-E73B7D2D46D5}"/>
              </a:ext>
            </a:extLst>
          </p:cNvPr>
          <p:cNvSpPr txBox="1"/>
          <p:nvPr/>
        </p:nvSpPr>
        <p:spPr>
          <a:xfrm>
            <a:off x="4171132" y="3696213"/>
            <a:ext cx="2167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Marissa Meyer</a:t>
            </a:r>
          </a:p>
          <a:p>
            <a:pPr algn="ctr"/>
            <a:r>
              <a:rPr lang="en-CA" dirty="0"/>
              <a:t>Tech businesswoman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808C1-CFDA-DF22-2957-C868C304F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890" y="504648"/>
            <a:ext cx="3930910" cy="32013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B80DD0-CAD0-477C-0E28-FF01DE67E160}"/>
              </a:ext>
            </a:extLst>
          </p:cNvPr>
          <p:cNvSpPr txBox="1"/>
          <p:nvPr/>
        </p:nvSpPr>
        <p:spPr>
          <a:xfrm>
            <a:off x="7422889" y="3705999"/>
            <a:ext cx="393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Colossal Cave Adventure</a:t>
            </a:r>
          </a:p>
          <a:p>
            <a:pPr algn="ctr"/>
            <a:r>
              <a:rPr lang="en-AU" dirty="0"/>
              <a:t>First text-based role-playing game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E33563-555F-8EAF-38A1-15AF81D69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28" y="1505729"/>
            <a:ext cx="2282158" cy="19232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530188-1C40-2C32-5B87-5534EF6CEC9A}"/>
              </a:ext>
            </a:extLst>
          </p:cNvPr>
          <p:cNvSpPr txBox="1"/>
          <p:nvPr/>
        </p:nvSpPr>
        <p:spPr>
          <a:xfrm>
            <a:off x="805064" y="3429000"/>
            <a:ext cx="2282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Cromemco</a:t>
            </a:r>
            <a:r>
              <a:rPr lang="en-CA" b="1" dirty="0"/>
              <a:t> Cyclops</a:t>
            </a:r>
          </a:p>
          <a:p>
            <a:pPr algn="ctr"/>
            <a:r>
              <a:rPr lang="en-AU" dirty="0"/>
              <a:t>First all-digital camera</a:t>
            </a:r>
          </a:p>
          <a:p>
            <a:pPr algn="ctr"/>
            <a:r>
              <a:rPr lang="en-AU" sz="1600" dirty="0"/>
              <a:t>32x32 pixel resolution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14DEDC-8340-BAF7-CD22-7465E72E1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522" y="4567780"/>
            <a:ext cx="1816392" cy="19250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F381D0-8C6A-5A01-20BC-A996D9E465CA}"/>
              </a:ext>
            </a:extLst>
          </p:cNvPr>
          <p:cNvSpPr txBox="1"/>
          <p:nvPr/>
        </p:nvSpPr>
        <p:spPr>
          <a:xfrm>
            <a:off x="7578914" y="4969369"/>
            <a:ext cx="3423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Betamax and VHS </a:t>
            </a:r>
            <a:br>
              <a:rPr lang="en-CA" b="1" dirty="0"/>
            </a:br>
            <a:r>
              <a:rPr lang="en-CA" dirty="0"/>
              <a:t>Consumer video recorder formats</a:t>
            </a:r>
          </a:p>
        </p:txBody>
      </p:sp>
    </p:spTree>
    <p:extLst>
      <p:ext uri="{BB962C8B-B14F-4D97-AF65-F5344CB8AC3E}">
        <p14:creationId xmlns:p14="http://schemas.microsoft.com/office/powerpoint/2010/main" val="96243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Arcade Game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9D1E49-D2CE-4AA9-B391-099DA1AD682D}"/>
              </a:ext>
            </a:extLst>
          </p:cNvPr>
          <p:cNvSpPr txBox="1"/>
          <p:nvPr/>
        </p:nvSpPr>
        <p:spPr>
          <a:xfrm>
            <a:off x="7320215" y="2979720"/>
            <a:ext cx="31770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000" b="1" dirty="0"/>
              <a:t>Tank / Tank II</a:t>
            </a:r>
            <a:br>
              <a:rPr lang="en-CA" sz="4000" dirty="0"/>
            </a:br>
            <a:r>
              <a:rPr lang="en-CA" sz="3200" dirty="0"/>
              <a:t>Kee Games (Atari)</a:t>
            </a:r>
            <a:endParaRPr lang="en-AU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88CC97-0AAA-E040-AC25-5BBD3D887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531" y="4102398"/>
            <a:ext cx="3476625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67363C7-022B-1249-EA60-59CE39F34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030" y="1497462"/>
            <a:ext cx="309562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98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Highest-Grossing Movie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5B901-2123-4EAE-9F0D-2187CE35C7C4}"/>
              </a:ext>
            </a:extLst>
          </p:cNvPr>
          <p:cNvSpPr txBox="1"/>
          <p:nvPr/>
        </p:nvSpPr>
        <p:spPr>
          <a:xfrm>
            <a:off x="8439962" y="3285361"/>
            <a:ext cx="125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Jaws</a:t>
            </a:r>
            <a:endParaRPr lang="en-AU" sz="4400" dirty="0"/>
          </a:p>
        </p:txBody>
      </p:sp>
      <p:pic>
        <p:nvPicPr>
          <p:cNvPr id="4098" name="Picture 2" descr="Movie poster shows a woman in the ocean swimming to the right. Below her is a large shark, and only its head and open mouth with teeth can be seen. Within the image is the film's title and above it in a surrounding black background is the phrase &quot;The most terrifying motion picture from the terrifying No. 1 best seller.&quot; The bottom of the image details the starring actors and lists credits and the MPAA rating.">
            <a:extLst>
              <a:ext uri="{FF2B5EF4-FFF2-40B4-BE49-F238E27FC236}">
                <a16:creationId xmlns:a16="http://schemas.microsoft.com/office/drawing/2014/main" id="{FBA016FE-4BE5-0984-C7D3-5EB3DA5D5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118" y="1394456"/>
            <a:ext cx="3501536" cy="532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23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E3B9-A8FD-4AE1-B222-CF259E66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1975: Most Popular Song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41B78-E7ED-4D2B-B858-4927CEC46631}"/>
              </a:ext>
            </a:extLst>
          </p:cNvPr>
          <p:cNvSpPr txBox="1"/>
          <p:nvPr/>
        </p:nvSpPr>
        <p:spPr>
          <a:xfrm>
            <a:off x="6416018" y="2706333"/>
            <a:ext cx="554360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/>
              <a:t>Love will Keep us Together</a:t>
            </a:r>
          </a:p>
          <a:p>
            <a:pPr algn="ctr"/>
            <a:r>
              <a:rPr lang="en-CA" sz="3600" i="1" dirty="0"/>
              <a:t>Captain and Tennille</a:t>
            </a:r>
            <a:endParaRPr lang="en-AU" sz="3600" i="1" dirty="0"/>
          </a:p>
        </p:txBody>
      </p:sp>
      <p:pic>
        <p:nvPicPr>
          <p:cNvPr id="5122" name="Picture 2" descr="Captain &amp; Tennille">
            <a:extLst>
              <a:ext uri="{FF2B5EF4-FFF2-40B4-BE49-F238E27FC236}">
                <a16:creationId xmlns:a16="http://schemas.microsoft.com/office/drawing/2014/main" id="{E9F2203B-ECA6-D14F-63FB-EBDBF1D1D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045" y="1838165"/>
            <a:ext cx="4962525" cy="40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4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140EF2-7A80-4170-96C7-C567343A91EE}"/>
              </a:ext>
            </a:extLst>
          </p:cNvPr>
          <p:cNvSpPr txBox="1">
            <a:spLocks/>
          </p:cNvSpPr>
          <p:nvPr/>
        </p:nvSpPr>
        <p:spPr>
          <a:xfrm>
            <a:off x="1358538" y="1697333"/>
            <a:ext cx="9527176" cy="42680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800" dirty="0"/>
              <a:t>Canadian PM: </a:t>
            </a:r>
            <a:r>
              <a:rPr lang="en-CA" sz="4800" b="1" dirty="0"/>
              <a:t>Pierre Trudeau</a:t>
            </a:r>
          </a:p>
          <a:p>
            <a:r>
              <a:rPr lang="en-CA" sz="4800" dirty="0"/>
              <a:t>American President: </a:t>
            </a:r>
            <a:r>
              <a:rPr lang="en-CA" sz="4800" b="1" dirty="0"/>
              <a:t>Gerald Ford</a:t>
            </a:r>
            <a:endParaRPr lang="en-AU" sz="4800" b="1" dirty="0"/>
          </a:p>
          <a:p>
            <a:r>
              <a:rPr lang="en-AU" sz="4800" b="1" dirty="0"/>
              <a:t>Vietnam war </a:t>
            </a:r>
            <a:r>
              <a:rPr lang="en-AU" sz="4800" dirty="0"/>
              <a:t>ended</a:t>
            </a:r>
          </a:p>
          <a:p>
            <a:r>
              <a:rPr lang="en-AU" sz="4800" b="1" dirty="0"/>
              <a:t>Saturday Night Live </a:t>
            </a:r>
            <a:r>
              <a:rPr lang="en-AU" sz="4800" dirty="0"/>
              <a:t>comedy show started </a:t>
            </a:r>
          </a:p>
          <a:p>
            <a:r>
              <a:rPr lang="en-CA" sz="4800" dirty="0"/>
              <a:t>Average US income: $14,100.00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00FBB-A4E6-4E19-BEB2-E43F372AEDD9}"/>
              </a:ext>
            </a:extLst>
          </p:cNvPr>
          <p:cNvSpPr txBox="1"/>
          <p:nvPr/>
        </p:nvSpPr>
        <p:spPr>
          <a:xfrm>
            <a:off x="3482839" y="373894"/>
            <a:ext cx="48586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8000" dirty="0">
                <a:solidFill>
                  <a:srgbClr val="00B0F0"/>
                </a:solidFill>
              </a:rPr>
              <a:t>1975 Facts</a:t>
            </a:r>
            <a:endParaRPr lang="en-AU" sz="8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83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acket (programming language) - Wikipedia">
            <a:extLst>
              <a:ext uri="{FF2B5EF4-FFF2-40B4-BE49-F238E27FC236}">
                <a16:creationId xmlns:a16="http://schemas.microsoft.com/office/drawing/2014/main" id="{6FE4F0D5-D4CA-7F6E-F27C-8892CF572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899" y="690922"/>
            <a:ext cx="2978202" cy="297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CF2578-931A-9B0F-F1EA-3BB34CCE93DF}"/>
              </a:ext>
            </a:extLst>
          </p:cNvPr>
          <p:cNvSpPr txBox="1"/>
          <p:nvPr/>
        </p:nvSpPr>
        <p:spPr>
          <a:xfrm>
            <a:off x="4856309" y="4203165"/>
            <a:ext cx="27969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LISP          1958</a:t>
            </a:r>
          </a:p>
          <a:p>
            <a:r>
              <a:rPr lang="en-CA" sz="2800" dirty="0"/>
              <a:t>Scheme   1975</a:t>
            </a:r>
          </a:p>
          <a:p>
            <a:r>
              <a:rPr lang="en-CA" sz="2800" dirty="0"/>
              <a:t>Racket   ~1995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13690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LISP and Scheme’s Original Designers</a:t>
            </a:r>
            <a:endParaRPr lang="en-AU" dirty="0"/>
          </a:p>
        </p:txBody>
      </p:sp>
      <p:pic>
        <p:nvPicPr>
          <p:cNvPr id="8194" name="Picture 2" descr="'Always inventing, inventing, inventing': McCarthy at work in his artificial intelligence laboratory at Stanford">
            <a:extLst>
              <a:ext uri="{FF2B5EF4-FFF2-40B4-BE49-F238E27FC236}">
                <a16:creationId xmlns:a16="http://schemas.microsoft.com/office/drawing/2014/main" id="{584C219A-150E-A5C6-E0D4-11E43E402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548" y="1401251"/>
            <a:ext cx="4205441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127473-8A2B-AE78-F8C5-A0D03B7350B1}"/>
              </a:ext>
            </a:extLst>
          </p:cNvPr>
          <p:cNvSpPr txBox="1"/>
          <p:nvPr/>
        </p:nvSpPr>
        <p:spPr>
          <a:xfrm>
            <a:off x="1575227" y="4718210"/>
            <a:ext cx="3161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b="1" dirty="0"/>
              <a:t>John McCarthy </a:t>
            </a:r>
            <a:r>
              <a:rPr lang="en-CA" dirty="0"/>
              <a:t>(1927-2011)</a:t>
            </a:r>
          </a:p>
          <a:p>
            <a:pPr algn="ctr"/>
            <a:r>
              <a:rPr lang="en-CA" dirty="0"/>
              <a:t>Original designer of LISP (1958)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CDD03-F006-3579-B9AC-F9755300E325}"/>
              </a:ext>
            </a:extLst>
          </p:cNvPr>
          <p:cNvSpPr txBox="1"/>
          <p:nvPr/>
        </p:nvSpPr>
        <p:spPr>
          <a:xfrm>
            <a:off x="1790663" y="5456749"/>
            <a:ext cx="273057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Also coined the term “Artificial Intelligence”, and for many years was a leading AI researcher.</a:t>
            </a:r>
            <a:endParaRPr lang="en-AU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BFE3DDBD-D26E-E145-3342-178A22297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01251"/>
            <a:ext cx="2522690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erald Sussman">
            <a:extLst>
              <a:ext uri="{FF2B5EF4-FFF2-40B4-BE49-F238E27FC236}">
                <a16:creationId xmlns:a16="http://schemas.microsoft.com/office/drawing/2014/main" id="{DDA7C2AB-C02D-61BF-5B16-E9727D9CF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8" r="11471" b="34117"/>
          <a:stretch/>
        </p:blipFill>
        <p:spPr bwMode="auto">
          <a:xfrm>
            <a:off x="8827958" y="1401251"/>
            <a:ext cx="2522687" cy="310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456361-9CC9-3318-8D15-4F61A6B43E78}"/>
              </a:ext>
            </a:extLst>
          </p:cNvPr>
          <p:cNvSpPr txBox="1"/>
          <p:nvPr/>
        </p:nvSpPr>
        <p:spPr>
          <a:xfrm>
            <a:off x="6095999" y="4688559"/>
            <a:ext cx="5254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Guy Steele </a:t>
            </a:r>
            <a:r>
              <a:rPr lang="en-CA" dirty="0"/>
              <a:t>and </a:t>
            </a:r>
            <a:r>
              <a:rPr lang="en-CA" b="1" dirty="0"/>
              <a:t>Gerald Sussman</a:t>
            </a:r>
          </a:p>
          <a:p>
            <a:pPr algn="ctr"/>
            <a:r>
              <a:rPr lang="en-CA" dirty="0"/>
              <a:t>Original designers of Scheme (1975)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A0247-E84A-DDE7-4901-76D5D335370E}"/>
              </a:ext>
            </a:extLst>
          </p:cNvPr>
          <p:cNvSpPr txBox="1"/>
          <p:nvPr/>
        </p:nvSpPr>
        <p:spPr>
          <a:xfrm>
            <a:off x="7534158" y="5456749"/>
            <a:ext cx="2378326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Racket</a:t>
            </a:r>
            <a:r>
              <a:rPr lang="en-CA"/>
              <a:t> is a </a:t>
            </a:r>
            <a:r>
              <a:rPr lang="en-CA" dirty="0"/>
              <a:t>modern dialect of Scheme, </a:t>
            </a:r>
            <a:r>
              <a:rPr lang="en-CA"/>
              <a:t>with many, many </a:t>
            </a:r>
            <a:r>
              <a:rPr lang="en-CA" dirty="0"/>
              <a:t>new ideas added.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6324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Scheme Probably </a:t>
            </a:r>
            <a:r>
              <a:rPr lang="en-CA" b="1" dirty="0">
                <a:solidFill>
                  <a:srgbClr val="FF0000"/>
                </a:solidFill>
              </a:rPr>
              <a:t>Can’t</a:t>
            </a:r>
            <a:r>
              <a:rPr lang="en-CA" dirty="0"/>
              <a:t> Get You a Job!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4AE68-A781-FD56-1D00-6B3AE095A7EF}"/>
              </a:ext>
            </a:extLst>
          </p:cNvPr>
          <p:cNvSpPr txBox="1"/>
          <p:nvPr/>
        </p:nvSpPr>
        <p:spPr>
          <a:xfrm>
            <a:off x="1718721" y="1965877"/>
            <a:ext cx="62880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It’s mostly a research language used by a subset of academic programming language researchers.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FE2D5E-13CF-4FA0-04A0-66A64587C63B}"/>
              </a:ext>
            </a:extLst>
          </p:cNvPr>
          <p:cNvSpPr txBox="1"/>
          <p:nvPr/>
        </p:nvSpPr>
        <p:spPr>
          <a:xfrm>
            <a:off x="1801965" y="3794879"/>
            <a:ext cx="62880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A variation of LISP called </a:t>
            </a:r>
            <a:r>
              <a:rPr lang="en-CA" sz="2800" b="1" dirty="0"/>
              <a:t>Clojure</a:t>
            </a:r>
            <a:r>
              <a:rPr lang="en-CA" sz="2800" dirty="0"/>
              <a:t> has more recently gained some popularity for practical programming (but still pretty niche compared to other languages)</a:t>
            </a:r>
            <a:endParaRPr lang="en-AU" sz="2800" dirty="0"/>
          </a:p>
        </p:txBody>
      </p:sp>
      <p:pic>
        <p:nvPicPr>
          <p:cNvPr id="6146" name="Picture 2" descr="Clojure - Wikipedia">
            <a:extLst>
              <a:ext uri="{FF2B5EF4-FFF2-40B4-BE49-F238E27FC236}">
                <a16:creationId xmlns:a16="http://schemas.microsoft.com/office/drawing/2014/main" id="{29461ED7-186D-9E98-8402-81436C92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710" y="3429000"/>
            <a:ext cx="2670202" cy="267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BDB633-1BCE-7B16-1722-A554A77B7C89}"/>
              </a:ext>
            </a:extLst>
          </p:cNvPr>
          <p:cNvSpPr txBox="1"/>
          <p:nvPr/>
        </p:nvSpPr>
        <p:spPr>
          <a:xfrm>
            <a:off x="9003694" y="5945082"/>
            <a:ext cx="1502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Clojure</a:t>
            </a:r>
            <a:endParaRPr lang="en-A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B985F0-AB93-7DC0-1218-74589D1B7444}"/>
              </a:ext>
            </a:extLst>
          </p:cNvPr>
          <p:cNvSpPr txBox="1"/>
          <p:nvPr/>
        </p:nvSpPr>
        <p:spPr>
          <a:xfrm>
            <a:off x="8385710" y="1554599"/>
            <a:ext cx="2857501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original version of </a:t>
            </a:r>
            <a:r>
              <a:rPr lang="en-CA" b="1" dirty="0"/>
              <a:t>JavaScript</a:t>
            </a:r>
            <a:r>
              <a:rPr lang="en-CA" dirty="0"/>
              <a:t> was implemented as a Scheme-style language, before being modified to look more C-like.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550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125" y="78200"/>
            <a:ext cx="7559750" cy="1325563"/>
          </a:xfrm>
        </p:spPr>
        <p:txBody>
          <a:bodyPr/>
          <a:lstStyle/>
          <a:p>
            <a:pPr algn="ctr"/>
            <a:r>
              <a:rPr lang="en-CA" dirty="0"/>
              <a:t>What’s Scheme/LISP </a:t>
            </a:r>
            <a:r>
              <a:rPr lang="en-CA" dirty="0">
                <a:solidFill>
                  <a:srgbClr val="FF0000"/>
                </a:solidFill>
              </a:rPr>
              <a:t>Good</a:t>
            </a:r>
            <a:r>
              <a:rPr lang="en-CA" dirty="0"/>
              <a:t> for?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268BC-88E6-45E5-8262-598A2B9A5D02}"/>
              </a:ext>
            </a:extLst>
          </p:cNvPr>
          <p:cNvSpPr txBox="1"/>
          <p:nvPr/>
        </p:nvSpPr>
        <p:spPr>
          <a:xfrm>
            <a:off x="3137531" y="2684301"/>
            <a:ext cx="48000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Packed with all kinds of interesting ideas, many of which have inspired more mainstream languages.</a:t>
            </a:r>
            <a:endParaRPr lang="en-AU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FDA23-C4D9-4490-9037-82BD6C7F4654}"/>
              </a:ext>
            </a:extLst>
          </p:cNvPr>
          <p:cNvSpPr txBox="1"/>
          <p:nvPr/>
        </p:nvSpPr>
        <p:spPr>
          <a:xfrm>
            <a:off x="7384356" y="4500183"/>
            <a:ext cx="46956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A good language for </a:t>
            </a:r>
            <a:r>
              <a:rPr lang="en-CA" sz="2800" b="1" dirty="0"/>
              <a:t>writing other programming languages </a:t>
            </a:r>
            <a:r>
              <a:rPr lang="en-CA" sz="2800" dirty="0"/>
              <a:t>and programming language tools.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849FE-CF35-3A97-ED65-D50740D29574}"/>
              </a:ext>
            </a:extLst>
          </p:cNvPr>
          <p:cNvSpPr txBox="1"/>
          <p:nvPr/>
        </p:nvSpPr>
        <p:spPr>
          <a:xfrm>
            <a:off x="293157" y="1520812"/>
            <a:ext cx="3725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Popular in traditional “symbolic” AI research.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157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0837-CC6E-409E-828B-6F1525694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What’s Scheme </a:t>
            </a:r>
            <a:r>
              <a:rPr lang="en-CA" dirty="0">
                <a:solidFill>
                  <a:srgbClr val="FF0000"/>
                </a:solidFill>
              </a:rPr>
              <a:t>Not</a:t>
            </a:r>
            <a:r>
              <a:rPr lang="en-CA" dirty="0"/>
              <a:t> so Good For?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EADE-0C03-49DA-BB59-0942833F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5264" cy="4351338"/>
          </a:xfrm>
        </p:spPr>
        <p:txBody>
          <a:bodyPr/>
          <a:lstStyle/>
          <a:p>
            <a:r>
              <a:rPr lang="en-CA" dirty="0"/>
              <a:t>Scheme</a:t>
            </a:r>
            <a:r>
              <a:rPr lang="en-AU" dirty="0"/>
              <a:t> is generally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as efficient as other languages.</a:t>
            </a:r>
          </a:p>
          <a:p>
            <a:r>
              <a:rPr lang="en-AU" dirty="0"/>
              <a:t>Scheme is </a:t>
            </a:r>
            <a:r>
              <a:rPr lang="en-AU" dirty="0">
                <a:solidFill>
                  <a:srgbClr val="FF0000"/>
                </a:solidFill>
              </a:rPr>
              <a:t>not</a:t>
            </a:r>
            <a:r>
              <a:rPr lang="en-AU" dirty="0"/>
              <a:t> used much in practice, so it can be hard to find support for it.</a:t>
            </a:r>
          </a:p>
          <a:p>
            <a:r>
              <a:rPr lang="en-AU" dirty="0"/>
              <a:t>Scheme’s notation is simple, but maybe </a:t>
            </a:r>
            <a:r>
              <a:rPr lang="en-AU" i="1" dirty="0"/>
              <a:t>too</a:t>
            </a:r>
            <a:r>
              <a:rPr lang="en-AU" dirty="0"/>
              <a:t> simple. ()-style notation results in lots and lots of parentheses, which many programmers </a:t>
            </a:r>
            <a:r>
              <a:rPr lang="en-AU" dirty="0">
                <a:solidFill>
                  <a:srgbClr val="FF0000"/>
                </a:solidFill>
              </a:rPr>
              <a:t>dislike</a:t>
            </a:r>
            <a:r>
              <a:rPr lang="en-AU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E16A3-1414-47FA-A3BB-3ABF0D84A1FE}"/>
              </a:ext>
            </a:extLst>
          </p:cNvPr>
          <p:cNvSpPr txBox="1"/>
          <p:nvPr/>
        </p:nvSpPr>
        <p:spPr>
          <a:xfrm>
            <a:off x="8544914" y="1443581"/>
            <a:ext cx="2857501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Measuring the performance of different programming languages is surprisingly difficult to do fairly. Check out </a:t>
            </a:r>
            <a:r>
              <a:rPr lang="en-US" dirty="0">
                <a:hlinkClick r:id="rId2"/>
              </a:rPr>
              <a:t>the Computer Language Benchmarks Game</a:t>
            </a:r>
            <a:r>
              <a:rPr lang="en-US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260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of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Functions are first-class objects</a:t>
            </a:r>
          </a:p>
          <a:p>
            <a:pPr marL="457200" lvl="1" indent="0">
              <a:buNone/>
            </a:pPr>
            <a:r>
              <a:rPr lang="en-CA" dirty="0"/>
              <a:t>Functions can be passed and returned (including closures)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Interpreted</a:t>
            </a:r>
          </a:p>
          <a:p>
            <a:pPr marL="457200" lvl="1" indent="0">
              <a:buNone/>
            </a:pPr>
            <a:r>
              <a:rPr lang="en-AU" dirty="0"/>
              <a:t>Easy to evaluate individual expressions</a:t>
            </a: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Memory-safe and garbage-collected</a:t>
            </a:r>
          </a:p>
          <a:p>
            <a:pPr marL="457200" lvl="1" indent="0">
              <a:buNone/>
            </a:pPr>
            <a:r>
              <a:rPr lang="en-AU" dirty="0"/>
              <a:t>No dangling pointers, no manual memory deletion</a:t>
            </a: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Homoiconic</a:t>
            </a:r>
          </a:p>
          <a:p>
            <a:pPr marL="457200" lvl="1" indent="0">
              <a:buNone/>
            </a:pPr>
            <a:r>
              <a:rPr lang="en-AU" dirty="0"/>
              <a:t>Scheme programs are written as Scheme lists</a:t>
            </a:r>
            <a:endParaRPr lang="en-A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70C0"/>
                </a:solidFill>
              </a:rPr>
              <a:t>Flexible</a:t>
            </a:r>
          </a:p>
          <a:p>
            <a:pPr marL="457200" lvl="1" indent="0">
              <a:buNone/>
            </a:pPr>
            <a:r>
              <a:rPr lang="en-AU" dirty="0"/>
              <a:t>Powerful macro system allows for major changes to the language</a:t>
            </a:r>
          </a:p>
          <a:p>
            <a:pPr marL="457200" lvl="1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4411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of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Types</a:t>
            </a:r>
          </a:p>
          <a:p>
            <a:pPr marL="457200" lvl="1" indent="0">
              <a:buNone/>
            </a:pPr>
            <a:r>
              <a:rPr lang="en-CA" dirty="0"/>
              <a:t>Dynamically typed, i.e. types checked at run-time</a:t>
            </a:r>
          </a:p>
          <a:p>
            <a:pPr marL="457200" lvl="1" indent="0">
              <a:buNone/>
            </a:pPr>
            <a:r>
              <a:rPr lang="en-CA" dirty="0"/>
              <a:t>Symbols</a:t>
            </a:r>
            <a:br>
              <a:rPr lang="en-CA" dirty="0"/>
            </a:br>
            <a:r>
              <a:rPr lang="en-CA" dirty="0"/>
              <a:t>Lists are the key data structure</a:t>
            </a:r>
          </a:p>
          <a:p>
            <a:pPr marL="457200" lvl="1" indent="0">
              <a:buNone/>
            </a:pPr>
            <a:r>
              <a:rPr lang="en-CA" dirty="0"/>
              <a:t>Continuations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Lexical Scoping</a:t>
            </a:r>
          </a:p>
          <a:p>
            <a:pPr marL="457200" lvl="1" indent="0">
              <a:buNone/>
            </a:pPr>
            <a:r>
              <a:rPr lang="en-CA" dirty="0"/>
              <a:t>One of the first languages to fully implemented the name-scoping rules we now take for granted</a:t>
            </a:r>
          </a:p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Tail Recursion</a:t>
            </a:r>
          </a:p>
          <a:p>
            <a:pPr marL="457200" lvl="1" indent="0">
              <a:buNone/>
            </a:pPr>
            <a:r>
              <a:rPr lang="en-CA" dirty="0"/>
              <a:t>Tail-recursive functions are automatically optimized into loops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949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Major Features </a:t>
            </a:r>
            <a:r>
              <a:rPr lang="en-CA" dirty="0">
                <a:solidFill>
                  <a:srgbClr val="FF0000"/>
                </a:solidFill>
              </a:rPr>
              <a:t>Not</a:t>
            </a:r>
            <a:r>
              <a:rPr lang="en-CA" dirty="0"/>
              <a:t> in Scheme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70C0"/>
                </a:solidFill>
              </a:rPr>
              <a:t>Features </a:t>
            </a:r>
            <a:r>
              <a:rPr lang="en-CA" b="1" dirty="0">
                <a:solidFill>
                  <a:srgbClr val="0070C0"/>
                </a:solidFill>
              </a:rPr>
              <a:t>not</a:t>
            </a:r>
            <a:r>
              <a:rPr lang="en-CA" dirty="0">
                <a:solidFill>
                  <a:srgbClr val="0070C0"/>
                </a:solidFill>
              </a:rPr>
              <a:t> part of Scheme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type declarations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pointers</a:t>
            </a:r>
          </a:p>
          <a:p>
            <a:pPr marL="457200" lvl="1" indent="0">
              <a:buNone/>
            </a:pPr>
            <a:r>
              <a:rPr lang="en-CA" dirty="0">
                <a:solidFill>
                  <a:srgbClr val="FF0000"/>
                </a:solidFill>
              </a:rPr>
              <a:t>No</a:t>
            </a:r>
            <a:r>
              <a:rPr lang="en-CA" dirty="0"/>
              <a:t> built-in notion of object-oriented programming</a:t>
            </a:r>
          </a:p>
          <a:p>
            <a:pPr marL="457200" lvl="1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60816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6DA8-3BC8-44C4-A6B8-4077E3A5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822" y="75519"/>
            <a:ext cx="10515600" cy="1325563"/>
          </a:xfrm>
        </p:spPr>
        <p:txBody>
          <a:bodyPr/>
          <a:lstStyle/>
          <a:p>
            <a:r>
              <a:rPr lang="en-CA" dirty="0"/>
              <a:t>Hello, World!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07E2-02AB-4FC8-8372-75485A2CC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118" y="2146358"/>
            <a:ext cx="4750014" cy="20336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;; </a:t>
            </a:r>
            <a:r>
              <a:rPr lang="en-US" dirty="0" err="1">
                <a:latin typeface="Consolas" panose="020B0609020204030204" pitchFamily="49" charset="0"/>
              </a:rPr>
              <a:t>hello_world.rkt</a:t>
            </a: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(print "Hello, world!")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9C04D-6CD3-48A5-BEAC-80EB44E5AF49}"/>
              </a:ext>
            </a:extLst>
          </p:cNvPr>
          <p:cNvSpPr txBox="1"/>
          <p:nvPr/>
        </p:nvSpPr>
        <p:spPr>
          <a:xfrm>
            <a:off x="7607873" y="2516868"/>
            <a:ext cx="2452009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Download and run this in the </a:t>
            </a:r>
            <a:r>
              <a:rPr lang="en-CA" b="1" dirty="0" err="1"/>
              <a:t>DrRacket</a:t>
            </a:r>
            <a:r>
              <a:rPr lang="en-CA" dirty="0"/>
              <a:t> IDE. We’ll use both the interpreter and file editor in </a:t>
            </a:r>
            <a:r>
              <a:rPr lang="en-CA" dirty="0" err="1"/>
              <a:t>DrRacket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91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561</Words>
  <Application>Microsoft Macintosh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Office Theme</vt:lpstr>
      <vt:lpstr>PowerPoint Presentation</vt:lpstr>
      <vt:lpstr>What was going on in 1975?</vt:lpstr>
      <vt:lpstr>1975: First Appearances</vt:lpstr>
      <vt:lpstr>1975: Highest-grossing Arcade Game</vt:lpstr>
      <vt:lpstr>1975: Highest-Grossing Movie</vt:lpstr>
      <vt:lpstr>1975: Most Popular Song</vt:lpstr>
      <vt:lpstr>PowerPoint Presentation</vt:lpstr>
      <vt:lpstr>PowerPoint Presentation</vt:lpstr>
      <vt:lpstr>LISP and Scheme’s Original Designers</vt:lpstr>
      <vt:lpstr>Scheme Probably Can’t Get You a Job!</vt:lpstr>
      <vt:lpstr>What’s Scheme/LISP Good for?</vt:lpstr>
      <vt:lpstr>What’s Scheme Not so Good For? </vt:lpstr>
      <vt:lpstr>Major Features of Scheme</vt:lpstr>
      <vt:lpstr>Major Features of Scheme</vt:lpstr>
      <vt:lpstr>Major Features Not in Scheme</vt:lpstr>
      <vt:lpstr>Hello, World!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Toby Donaldson</dc:creator>
  <cp:lastModifiedBy>Toby Donaldson</cp:lastModifiedBy>
  <cp:revision>1</cp:revision>
  <dcterms:created xsi:type="dcterms:W3CDTF">2022-04-12T05:50:02Z</dcterms:created>
  <dcterms:modified xsi:type="dcterms:W3CDTF">2026-06-11T05:43:11Z</dcterms:modified>
</cp:coreProperties>
</file>